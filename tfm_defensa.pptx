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3" autoAdjust="0"/>
    <p:restoredTop sz="94610"/>
  </p:normalViewPr>
  <p:slideViewPr>
    <p:cSldViewPr snapToGrid="0" snapToObjects="1">
      <p:cViewPr varScale="1">
        <p:scale>
          <a:sx n="146" d="100"/>
          <a:sy n="146" d="100"/>
        </p:scale>
        <p:origin x="46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6680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PORTADA (≈ 30 seg)
Presentarte brevemente: nombre, máster, tutores.
Enuncia el título completo en voz alta.
Menciona que el trabajo forma parte del proyecto RELIEF-T1D del HU Virgen de las Nieves.
Avanza sin demora a la motivación.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CONTEXTO CLÍNICO (≈ 1 min)
Explica brevemente qué es la DM1 y cómo funciona el CGM.
Énfasis: el modelo predice glucosa 60 minutos antes — suficiente para actuar.
Señala que el rango TBR-2 (&lt; 54 mg/dL) es el más peligroso clínicamente y el más difícil de modelar.
Esto prepara al tribunal para entender por qué diferenciar el error en hipoglucemia severa del error global es crucial.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PROBLEMA Y PREGUNTA (≈ 1 min 15 seg)
Explica el desequilibrio demográfico: en T1DiabetesGranada hay pocos pacientes mayores de 66 años; en DiaTrend el ratio edad es 38:1.
Esto significa que el modelo aprende principalmente de perfiles glucémicos del grupo mayoritario.
Formula la pregunta con claridad: si igualamos la representación de grupos en el train, ¿mejora el modelo, especialmente donde más importa (hipoglucemia)?
Señala que se usan tres datasets con características muy distintas para dar robustez a la respuesta.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OBJETIVOS (≈ 45 seg)
Enuncia la hipótesis con claridad y sin rodeos.
No es necesario leer todos los objetivos — señala los más importantes: el diseño metodológico (O1), la evaluación clínica desagregada (O3) y el análisis estadístico formal (O6).
Anticipa que la respuesta a la hipótesis será matizada, lo que hace los resultados más interesantes.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METODOLOGÍA (≈ 1 min 30 seg)
Explica el pipeline de izquierda a derecha:
1. Tres datasets con características muy distintas.
2. Group K-Fold: ningún paciente aparece en train y test a la vez — garantía de evaluación realista.
3. El balanceo se aplica SOLO al pliegue de entrenamiento de cada fold — val y test no se tocan.
4. El modelo LSTM es fijo (mismo en todos los experimentos) — esto es crucial: las diferencias vienen del balanceo, no del modelo.
5. La evaluación es desagregada por rango glucémico, no solo un RMSE global.
Menciona los 315 entrenamientos y la robustez estadística (Friedman + Nemenyi + Borda).
Señala que la garantía metodológica es lo que permite hacer afirmaciones causales sobre el efecto del balanceo.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EFECTO SOBRE EL ENTRENAMIENTO (≈ 1 min)
Este slide es importante para la narrativa: el balanceo demográfico no es lo mismo que balancear glucémicamente.
Explica que en T1DiabetesGranada el balanceo produce cambios demográficos pero el perfil glucémico apenas cambia — porque los grupos tienen perfiles similares.
En DiaTrend, el grupo ≥66 tiene un perfil glucémico muy diferente al mayoritario, así que el balanceo sí cambia qué le "enseñas" al modelo.
En REPLACE-BG, el seguimiento estandarizado elimina la heterogeneidad entre grupos — el problema no existe aquí.
Esta explicación prepara al tribunal para entender por qué los resultados son tan distintos entre datasets.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RESULTADO PRINCIPAL (≈ 1 min 30 seg)
Este es el momento más importante de la defensa. El hallazgo central es contraintuitivo:
- Se esperaba que el balanceo mejorara el modelo, especialmente para subgrupos.
- En realidad, en 2 de 3 datasets, el balanceo no produce ningún efecto estadísticamente significativo.
¿Esto es un fracaso? NO. Explica por qué es un resultado valioso:
1. Demuestra que el LSTM tiene una robustez representacional notable — no se "distrae" con el ruido sintético.
2. En T1DiabetesGranada, la heterogeneidad clínica de 643 pacientes reales ya captura suficiente diversidad demográfica.
3. En DiaTrend, el desequilibrio es tan extremo (38:1) que sí domina el comportamiento del modelo.
El mensaje: el balanceo demográfico solo es efectivo cuando el sesgo es suficientemente extremo para dominar el aprendizaje.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TRADE-OFF ENTRE MÉTRICAS (≈ 1 min 15 seg)
Explica el trade-off con el gráfico:
- Oversampling (Jittering, ROS, SMOTE) enriquece el entrenamiento con perfiles glucémicos del grupo mayoritario (mejor control). El modelo mejora globalmente PERO falla más en hipoglucemia severa porque ve menos ventanas TBR-2.
- Undersampling reduce el dataset al mínimo del grupo minoritario. El modelo ve más proporcionalmente hipoglucemia severa PERO pierde información general y empeora el RMSE global.
- Tomek Links solo elimina puntos fronterizos ambiguos — reducción suave que mejora la calidad sin perder información. Es la única técnica que no entra en el trade-off.
Este trade-off tiene una implicación directa para el diseño clínico: la elección de técnica debe hacerse en función del rango glucémico que se prioriza clínicamente.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ESTADÍSTICA FORMAL (≈ 1 min)
Explica brevemente el protocolo estadístico:
- Friedman: test no paramétrico para comparar múltiples condiciones simultáneamente (equivalente a ANOVA de rangos).
- Nemenyi: corrección post-hoc para identificar qué pares de técnicas difieren significativamente.
- CD = 13,25 — solo diferencias de rango medio superiores a 13,25 son significativas con 5 folds.
Resultado clave: solo en DiaTrend el test es significativo. Esto no es una limitación del método, sino una propiedad del dataset.
Borda: Tomek Links gana en DiaTrend. Pero no existe un ganador universal — la elección óptima depende del repositorio.
Si el tribunal pregunta por potencia estadística: con 5 folds la potencia es limitada — es una limitación metodológica explícita reconocida en el trabajo.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PARADOJA Y VALOR TEÓRICO (≈ 1 min)
Este slide presenta el hallazgo metodológico más sutil del trabajo.
Explica la paradoja con claridad: intuitivamente, más datos = resultados más estables. Aquí es al revés.
La explicación es elegante: cuando el sesgo es la señal dominante (DiaTrend), gobierna de forma homogénea. Cuando hay mucha heterogeneidad clínica (T1DiabetesGranada), el sesgo se convierte en ruido frente a la riqueza de los datos.
Esto tiene implicaciones para cualquier estudio de equidad algorítmica: la consistencia del ranking no es siempre un indicador de robustez metodológica.
Si el tribunal es técnico, pueden preguntar sobre esto — es uno de los puntos más originales del trabajo.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CONCLUSIONES (≈ 1 min 30 seg)
Lee o parafrasea cada conclusión con el dato que la respalda.
Insiste en que C2 es el hallazgo clínicamente más relevante — el trade-off es un resultado genuino, no una limitación.
C4 tiene una recomendación práctica concreta: si hay que elegir una técnica para un dataset con desequilibrio extremo, Tomek Links (edad) es la más segura.
Evita parecer apologético sobre los resultados. No es una tesis que "no funcionó" — es una tesis que produce conocimiento sólido y honesto sobre las condiciones en que el balanceo sí y no funciona.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CIERRE (≈ 45 seg)
Termina con la frase clave del slide — es la síntesis del trabajo.
Menciona brevemente las líneas futuras que más te entusiasman (p.ej., modelos de fundación o aprendizaje federado).
Lee la contribución con seguridad: es real, está respaldada, y es relevante para el campo.
Agradece al tribunal y di que estás disponible para preguntas.
TIEMPO TOTAL ESTIMADO:
Slide 1: 0:30
Slide 2: 1:30
Slide 3: 2:45
Slide 4: 3:30
Slide 5: 5:00
Slide 6: 6:00
Slide 7: 7:30
Slide 8: 8:45
Slide 9: 9:45
Slide 10: 10:45
Slide 11: 12:15
Slide 12: 13:00
Total estimado: ~13–14 minutos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1325880"/>
          </a:xfrm>
          <a:prstGeom prst="rect">
            <a:avLst/>
          </a:prstGeom>
          <a:solidFill>
            <a:srgbClr val="1A1A2E"/>
          </a:solidFill>
          <a:ln w="12700">
            <a:solidFill>
              <a:srgbClr val="1A1A2E"/>
            </a:solidFill>
            <a:prstDash val="solid"/>
          </a:ln>
        </p:spPr>
        <p:txBody>
          <a:bodyPr/>
          <a:lstStyle/>
          <a:p>
            <a:endParaRPr lang="es-ES"/>
          </a:p>
        </p:txBody>
      </p:sp>
      <p:sp>
        <p:nvSpPr>
          <p:cNvPr id="3" name="Shape 1"/>
          <p:cNvSpPr/>
          <p:nvPr/>
        </p:nvSpPr>
        <p:spPr>
          <a:xfrm>
            <a:off x="0" y="1325880"/>
            <a:ext cx="82296" cy="3817620"/>
          </a:xfrm>
          <a:prstGeom prst="rect">
            <a:avLst/>
          </a:prstGeom>
          <a:solidFill>
            <a:srgbClr val="1B4F72"/>
          </a:solidFill>
          <a:ln w="12700">
            <a:solidFill>
              <a:srgbClr val="1B4F72"/>
            </a:solidFill>
            <a:prstDash val="solid"/>
          </a:ln>
        </p:spPr>
        <p:txBody>
          <a:bodyPr/>
          <a:lstStyle/>
          <a:p>
            <a:endParaRPr lang="es-ES"/>
          </a:p>
        </p:txBody>
      </p:sp>
      <p:sp>
        <p:nvSpPr>
          <p:cNvPr id="4" name="Text 2"/>
          <p:cNvSpPr txBox="1"/>
          <p:nvPr/>
        </p:nvSpPr>
        <p:spPr>
          <a:xfrm>
            <a:off x="502920" y="109728"/>
            <a:ext cx="6766560" cy="1078992"/>
          </a:xfrm>
          <a:prstGeom prst="rect">
            <a:avLst/>
          </a:prstGeom>
          <a:noFill/>
          <a:ln/>
        </p:spPr>
        <p:txBody>
          <a:bodyPr wrap="square" rtlCol="0" anchor="ctr"/>
          <a:lstStyle/>
          <a:p>
            <a:pPr marL="0" indent="0">
              <a:buNone/>
            </a:pPr>
            <a:r>
              <a:rPr lang="en-US" sz="2800" b="1" dirty="0">
                <a:solidFill>
                  <a:srgbClr val="FFFFFF"/>
                </a:solidFill>
              </a:rPr>
              <a:t>Compensación del Sesgo</a:t>
            </a:r>
            <a:endParaRPr lang="en-US" sz="2800" dirty="0"/>
          </a:p>
          <a:p>
            <a:pPr marL="0" indent="0">
              <a:buNone/>
            </a:pPr>
            <a:r>
              <a:rPr lang="en-US" sz="2800" b="1" dirty="0">
                <a:solidFill>
                  <a:srgbClr val="FFFFFF"/>
                </a:solidFill>
              </a:rPr>
              <a:t>por Heterogeneidad de Pacientes</a:t>
            </a:r>
            <a:endParaRPr lang="en-US" sz="2800" dirty="0"/>
          </a:p>
        </p:txBody>
      </p:sp>
      <p:sp>
        <p:nvSpPr>
          <p:cNvPr id="5" name="Text 3"/>
          <p:cNvSpPr txBox="1"/>
          <p:nvPr/>
        </p:nvSpPr>
        <p:spPr>
          <a:xfrm>
            <a:off x="594360" y="1417320"/>
            <a:ext cx="8046720" cy="411480"/>
          </a:xfrm>
          <a:prstGeom prst="rect">
            <a:avLst/>
          </a:prstGeom>
          <a:noFill/>
          <a:ln/>
        </p:spPr>
        <p:txBody>
          <a:bodyPr wrap="square" rtlCol="0" anchor="ctr"/>
          <a:lstStyle/>
          <a:p>
            <a:pPr marL="0" indent="0">
              <a:buNone/>
            </a:pPr>
            <a:r>
              <a:rPr lang="en-US" sz="1700" i="1" dirty="0">
                <a:solidFill>
                  <a:srgbClr val="1A1A2E"/>
                </a:solidFill>
              </a:rPr>
              <a:t>en Modelos de Predicción de Glucosa mediante Balanceo de Datos</a:t>
            </a:r>
            <a:endParaRPr lang="en-US" sz="1700" dirty="0"/>
          </a:p>
        </p:txBody>
      </p:sp>
      <p:sp>
        <p:nvSpPr>
          <p:cNvPr id="6" name="Text 4"/>
          <p:cNvSpPr txBox="1"/>
          <p:nvPr/>
        </p:nvSpPr>
        <p:spPr>
          <a:xfrm>
            <a:off x="594360" y="1993392"/>
            <a:ext cx="5029200" cy="320040"/>
          </a:xfrm>
          <a:prstGeom prst="rect">
            <a:avLst/>
          </a:prstGeom>
          <a:noFill/>
          <a:ln/>
        </p:spPr>
        <p:txBody>
          <a:bodyPr wrap="square" rtlCol="0" anchor="ctr"/>
          <a:lstStyle/>
          <a:p>
            <a:pPr marL="0" indent="0">
              <a:buNone/>
            </a:pPr>
            <a:r>
              <a:rPr lang="en-US" sz="1800" b="1" dirty="0">
                <a:solidFill>
                  <a:srgbClr val="1A1A2E"/>
                </a:solidFill>
              </a:rPr>
              <a:t>Juan Ricardo Hernández Sánchez-Agesta</a:t>
            </a:r>
            <a:endParaRPr lang="en-US" sz="1800" dirty="0"/>
          </a:p>
        </p:txBody>
      </p:sp>
      <p:sp>
        <p:nvSpPr>
          <p:cNvPr id="7" name="Text 5"/>
          <p:cNvSpPr txBox="1"/>
          <p:nvPr/>
        </p:nvSpPr>
        <p:spPr>
          <a:xfrm>
            <a:off x="594360" y="2304288"/>
            <a:ext cx="5029200" cy="502920"/>
          </a:xfrm>
          <a:prstGeom prst="rect">
            <a:avLst/>
          </a:prstGeom>
          <a:noFill/>
          <a:ln/>
        </p:spPr>
        <p:txBody>
          <a:bodyPr wrap="square" rtlCol="0" anchor="ctr"/>
          <a:lstStyle/>
          <a:p>
            <a:pPr marL="0" indent="0">
              <a:buNone/>
            </a:pPr>
            <a:r>
              <a:rPr lang="en-US" sz="1100" dirty="0">
                <a:solidFill>
                  <a:srgbClr val="7F8C8D"/>
                </a:solidFill>
              </a:rPr>
              <a:t>Máster en Ciencia de Datos e Ingeniería de Computadores</a:t>
            </a:r>
            <a:endParaRPr lang="en-US" sz="1100" dirty="0"/>
          </a:p>
          <a:p>
            <a:pPr marL="0" indent="0">
              <a:buNone/>
            </a:pPr>
            <a:r>
              <a:rPr lang="en-US" sz="1100" dirty="0">
                <a:solidFill>
                  <a:srgbClr val="7F8C8D"/>
                </a:solidFill>
              </a:rPr>
              <a:t>Universidad de Granada — Agosto 2026</a:t>
            </a:r>
            <a:endParaRPr lang="en-US" sz="1100" dirty="0"/>
          </a:p>
        </p:txBody>
      </p:sp>
      <p:sp>
        <p:nvSpPr>
          <p:cNvPr id="8" name="Text 6"/>
          <p:cNvSpPr txBox="1"/>
          <p:nvPr/>
        </p:nvSpPr>
        <p:spPr>
          <a:xfrm>
            <a:off x="594360" y="2944368"/>
            <a:ext cx="5943600" cy="274320"/>
          </a:xfrm>
          <a:prstGeom prst="rect">
            <a:avLst/>
          </a:prstGeom>
          <a:noFill/>
          <a:ln/>
        </p:spPr>
        <p:txBody>
          <a:bodyPr wrap="square" rtlCol="0" anchor="ctr"/>
          <a:lstStyle/>
          <a:p>
            <a:pPr marL="0" indent="0">
              <a:buNone/>
            </a:pPr>
            <a:r>
              <a:rPr lang="en-US" sz="1200" dirty="0">
                <a:solidFill>
                  <a:srgbClr val="7F8C8D"/>
                </a:solidFill>
              </a:rPr>
              <a:t>Directores: Oresti Baños Legrán · Claudia Villalonga Palliser · Ciro Rodríguez León</a:t>
            </a:r>
            <a:endParaRPr lang="en-US" sz="1200" dirty="0"/>
          </a:p>
        </p:txBody>
      </p:sp>
      <p:sp>
        <p:nvSpPr>
          <p:cNvPr id="17" name="Text 15"/>
          <p:cNvSpPr txBox="1"/>
          <p:nvPr/>
        </p:nvSpPr>
        <p:spPr>
          <a:xfrm>
            <a:off x="594360" y="4796028"/>
            <a:ext cx="5943600" cy="228600"/>
          </a:xfrm>
          <a:prstGeom prst="rect">
            <a:avLst/>
          </a:prstGeom>
          <a:noFill/>
          <a:ln/>
        </p:spPr>
        <p:txBody>
          <a:bodyPr wrap="square" rtlCol="0" anchor="ctr"/>
          <a:lstStyle/>
          <a:p>
            <a:pPr marL="0" indent="0">
              <a:buNone/>
            </a:pPr>
            <a:r>
              <a:rPr lang="en-US" sz="1200" i="1" dirty="0">
                <a:solidFill>
                  <a:srgbClr val="7F8C8D"/>
                </a:solidFill>
              </a:rPr>
              <a:t>Proyecto RELIEF-T1D — Hospital Universitario Virgen de las Nieves, Granada</a:t>
            </a:r>
            <a:endParaRPr lang="en-US" sz="1200" dirty="0"/>
          </a:p>
        </p:txBody>
      </p:sp>
      <p:sp>
        <p:nvSpPr>
          <p:cNvPr id="18" name="Shape 16"/>
          <p:cNvSpPr/>
          <p:nvPr/>
        </p:nvSpPr>
        <p:spPr>
          <a:xfrm>
            <a:off x="502920" y="5070348"/>
            <a:ext cx="8138160" cy="27432"/>
          </a:xfrm>
          <a:prstGeom prst="rect">
            <a:avLst/>
          </a:prstGeom>
          <a:solidFill>
            <a:srgbClr val="BDC3C7"/>
          </a:solidFill>
          <a:ln w="12700">
            <a:solidFill>
              <a:srgbClr val="BDC3C7"/>
            </a:solidFill>
            <a:prstDash val="solid"/>
          </a:ln>
        </p:spPr>
        <p:txBody>
          <a:bodyPr/>
          <a:lstStyle/>
          <a:p>
            <a:endParaRPr lang="es-ES"/>
          </a:p>
        </p:txBody>
      </p:sp>
      <p:pic>
        <p:nvPicPr>
          <p:cNvPr id="20" name="Imagen 19">
            <a:extLst>
              <a:ext uri="{FF2B5EF4-FFF2-40B4-BE49-F238E27FC236}">
                <a16:creationId xmlns:a16="http://schemas.microsoft.com/office/drawing/2014/main" id="{89248D3D-A62F-8149-AB5C-18D3166D08A2}"/>
              </a:ext>
            </a:extLst>
          </p:cNvPr>
          <p:cNvPicPr>
            <a:picLocks noChangeAspect="1"/>
          </p:cNvPicPr>
          <p:nvPr/>
        </p:nvPicPr>
        <p:blipFill>
          <a:blip r:embed="rId3"/>
          <a:stretch>
            <a:fillRect/>
          </a:stretch>
        </p:blipFill>
        <p:spPr>
          <a:xfrm>
            <a:off x="716280" y="3243680"/>
            <a:ext cx="4005072" cy="1426772"/>
          </a:xfrm>
          <a:prstGeom prst="rect">
            <a:avLst/>
          </a:prstGeom>
        </p:spPr>
      </p:pic>
      <p:pic>
        <p:nvPicPr>
          <p:cNvPr id="22" name="Imagen 21">
            <a:extLst>
              <a:ext uri="{FF2B5EF4-FFF2-40B4-BE49-F238E27FC236}">
                <a16:creationId xmlns:a16="http://schemas.microsoft.com/office/drawing/2014/main" id="{DD3FDA95-57BF-D8B7-A91E-634ADF80951F}"/>
              </a:ext>
            </a:extLst>
          </p:cNvPr>
          <p:cNvPicPr>
            <a:picLocks noChangeAspect="1"/>
          </p:cNvPicPr>
          <p:nvPr/>
        </p:nvPicPr>
        <p:blipFill>
          <a:blip r:embed="rId4"/>
          <a:stretch>
            <a:fillRect/>
          </a:stretch>
        </p:blipFill>
        <p:spPr>
          <a:xfrm>
            <a:off x="6677025" y="262890"/>
            <a:ext cx="2190750" cy="800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01168"/>
            <a:ext cx="8138160" cy="566928"/>
          </a:xfrm>
          <a:prstGeom prst="rect">
            <a:avLst/>
          </a:prstGeom>
          <a:noFill/>
          <a:ln/>
        </p:spPr>
        <p:txBody>
          <a:bodyPr wrap="square" rtlCol="0" anchor="ctr"/>
          <a:lstStyle/>
          <a:p>
            <a:pPr marL="0" indent="0">
              <a:buNone/>
            </a:pPr>
            <a:r>
              <a:rPr lang="en-US" sz="2800" b="1" dirty="0">
                <a:solidFill>
                  <a:srgbClr val="1A1A2E"/>
                </a:solidFill>
              </a:rPr>
              <a:t>La hipoglucemia no avisada puede ser fatal</a:t>
            </a:r>
            <a:endParaRPr lang="en-US" sz="2800" dirty="0"/>
          </a:p>
        </p:txBody>
      </p:sp>
      <p:sp>
        <p:nvSpPr>
          <p:cNvPr id="3" name="Shape 1"/>
          <p:cNvSpPr/>
          <p:nvPr/>
        </p:nvSpPr>
        <p:spPr>
          <a:xfrm>
            <a:off x="502920" y="5070348"/>
            <a:ext cx="8138160" cy="27432"/>
          </a:xfrm>
          <a:prstGeom prst="rect">
            <a:avLst/>
          </a:prstGeom>
          <a:solidFill>
            <a:srgbClr val="BDC3C7"/>
          </a:solidFill>
          <a:ln w="12700">
            <a:solidFill>
              <a:srgbClr val="BDC3C7"/>
            </a:solidFill>
            <a:prstDash val="solid"/>
          </a:ln>
        </p:spPr>
        <p:txBody>
          <a:bodyPr/>
          <a:lstStyle/>
          <a:p>
            <a:endParaRPr lang="es-ES"/>
          </a:p>
        </p:txBody>
      </p:sp>
      <p:sp>
        <p:nvSpPr>
          <p:cNvPr id="4" name="Text 2"/>
          <p:cNvSpPr txBox="1"/>
          <p:nvPr/>
        </p:nvSpPr>
        <p:spPr>
          <a:xfrm>
            <a:off x="8229600" y="4869180"/>
            <a:ext cx="777240" cy="201168"/>
          </a:xfrm>
          <a:prstGeom prst="rect">
            <a:avLst/>
          </a:prstGeom>
          <a:noFill/>
          <a:ln/>
        </p:spPr>
        <p:txBody>
          <a:bodyPr wrap="square" rtlCol="0" anchor="ctr"/>
          <a:lstStyle/>
          <a:p>
            <a:pPr marL="0" indent="0" algn="r">
              <a:buNone/>
            </a:pPr>
            <a:r>
              <a:rPr lang="en-US" sz="1200" dirty="0">
                <a:solidFill>
                  <a:srgbClr val="7F8C8D"/>
                </a:solidFill>
              </a:rPr>
              <a:t>2 / 12</a:t>
            </a:r>
            <a:endParaRPr lang="en-US" sz="1200" dirty="0"/>
          </a:p>
        </p:txBody>
      </p:sp>
      <p:sp>
        <p:nvSpPr>
          <p:cNvPr id="5" name="Shape 3"/>
          <p:cNvSpPr/>
          <p:nvPr/>
        </p:nvSpPr>
        <p:spPr>
          <a:xfrm>
            <a:off x="502920" y="1188720"/>
            <a:ext cx="5120640" cy="548640"/>
          </a:xfrm>
          <a:prstGeom prst="rect">
            <a:avLst/>
          </a:prstGeom>
          <a:solidFill>
            <a:srgbClr val="F2F4F8"/>
          </a:solidFill>
          <a:ln w="12700">
            <a:solidFill>
              <a:srgbClr val="F2F4F8"/>
            </a:solidFill>
            <a:prstDash val="solid"/>
          </a:ln>
        </p:spPr>
        <p:txBody>
          <a:bodyPr/>
          <a:lstStyle/>
          <a:p>
            <a:endParaRPr lang="es-ES"/>
          </a:p>
        </p:txBody>
      </p:sp>
      <p:sp>
        <p:nvSpPr>
          <p:cNvPr id="6" name="Text 4"/>
          <p:cNvSpPr txBox="1"/>
          <p:nvPr/>
        </p:nvSpPr>
        <p:spPr>
          <a:xfrm>
            <a:off x="612648" y="1216152"/>
            <a:ext cx="4901184" cy="475488"/>
          </a:xfrm>
          <a:prstGeom prst="rect">
            <a:avLst/>
          </a:prstGeom>
          <a:noFill/>
          <a:ln/>
        </p:spPr>
        <p:txBody>
          <a:bodyPr wrap="square" lIns="0" tIns="0" rIns="0" bIns="0" rtlCol="0" anchor="ctr"/>
          <a:lstStyle/>
          <a:p>
            <a:pPr marL="0" indent="0">
              <a:buNone/>
            </a:pPr>
            <a:r>
              <a:rPr lang="en-US" sz="1400" dirty="0">
                <a:solidFill>
                  <a:srgbClr val="1A1A2E"/>
                </a:solidFill>
              </a:rPr>
              <a:t>DM1 afecta a ~537 millones de personas (IDF, 2021)</a:t>
            </a:r>
            <a:endParaRPr lang="en-US" sz="1400" dirty="0"/>
          </a:p>
        </p:txBody>
      </p:sp>
      <p:sp>
        <p:nvSpPr>
          <p:cNvPr id="7" name="Shape 5"/>
          <p:cNvSpPr/>
          <p:nvPr/>
        </p:nvSpPr>
        <p:spPr>
          <a:xfrm>
            <a:off x="502920" y="1847088"/>
            <a:ext cx="5120640" cy="548640"/>
          </a:xfrm>
          <a:prstGeom prst="rect">
            <a:avLst/>
          </a:prstGeom>
          <a:solidFill>
            <a:srgbClr val="F2F4F8"/>
          </a:solidFill>
          <a:ln w="12700">
            <a:solidFill>
              <a:srgbClr val="F2F4F8"/>
            </a:solidFill>
            <a:prstDash val="solid"/>
          </a:ln>
        </p:spPr>
        <p:txBody>
          <a:bodyPr/>
          <a:lstStyle/>
          <a:p>
            <a:endParaRPr lang="es-ES"/>
          </a:p>
        </p:txBody>
      </p:sp>
      <p:sp>
        <p:nvSpPr>
          <p:cNvPr id="8" name="Text 6"/>
          <p:cNvSpPr txBox="1"/>
          <p:nvPr/>
        </p:nvSpPr>
        <p:spPr>
          <a:xfrm>
            <a:off x="612648" y="1874520"/>
            <a:ext cx="4901184" cy="475488"/>
          </a:xfrm>
          <a:prstGeom prst="rect">
            <a:avLst/>
          </a:prstGeom>
          <a:noFill/>
          <a:ln/>
        </p:spPr>
        <p:txBody>
          <a:bodyPr wrap="square" lIns="0" tIns="0" rIns="0" bIns="0" rtlCol="0" anchor="ctr"/>
          <a:lstStyle/>
          <a:p>
            <a:pPr marL="0" indent="0">
              <a:buNone/>
            </a:pPr>
            <a:r>
              <a:rPr lang="en-US" sz="1400" dirty="0">
                <a:solidFill>
                  <a:srgbClr val="1A1A2E"/>
                </a:solidFill>
              </a:rPr>
              <a:t>Los sensores CGM miden glucosa cada 5 min —  continua, densa, ruidosa</a:t>
            </a:r>
            <a:endParaRPr lang="en-US" sz="1400" dirty="0"/>
          </a:p>
        </p:txBody>
      </p:sp>
      <p:sp>
        <p:nvSpPr>
          <p:cNvPr id="9" name="Shape 7"/>
          <p:cNvSpPr/>
          <p:nvPr/>
        </p:nvSpPr>
        <p:spPr>
          <a:xfrm>
            <a:off x="502920" y="2505456"/>
            <a:ext cx="5120640" cy="548640"/>
          </a:xfrm>
          <a:prstGeom prst="rect">
            <a:avLst/>
          </a:prstGeom>
          <a:solidFill>
            <a:srgbClr val="F2F4F8"/>
          </a:solidFill>
          <a:ln w="12700">
            <a:solidFill>
              <a:srgbClr val="F2F4F8"/>
            </a:solidFill>
            <a:prstDash val="solid"/>
          </a:ln>
        </p:spPr>
        <p:txBody>
          <a:bodyPr/>
          <a:lstStyle/>
          <a:p>
            <a:endParaRPr lang="es-ES"/>
          </a:p>
        </p:txBody>
      </p:sp>
      <p:sp>
        <p:nvSpPr>
          <p:cNvPr id="10" name="Text 8"/>
          <p:cNvSpPr txBox="1"/>
          <p:nvPr/>
        </p:nvSpPr>
        <p:spPr>
          <a:xfrm>
            <a:off x="612648" y="2532888"/>
            <a:ext cx="4901184" cy="475488"/>
          </a:xfrm>
          <a:prstGeom prst="rect">
            <a:avLst/>
          </a:prstGeom>
          <a:noFill/>
          <a:ln/>
        </p:spPr>
        <p:txBody>
          <a:bodyPr wrap="square" lIns="0" tIns="0" rIns="0" bIns="0" rtlCol="0" anchor="ctr"/>
          <a:lstStyle/>
          <a:p>
            <a:pPr marL="0" indent="0">
              <a:buNone/>
            </a:pPr>
            <a:r>
              <a:rPr lang="en-US" sz="1400" dirty="0">
                <a:solidFill>
                  <a:srgbClr val="1A1A2E"/>
                </a:solidFill>
              </a:rPr>
              <a:t>Meta terapéutica: TIR &gt; 70 % (70–180 mg/dL)</a:t>
            </a:r>
            <a:endParaRPr lang="en-US" sz="1400" dirty="0"/>
          </a:p>
        </p:txBody>
      </p:sp>
      <p:sp>
        <p:nvSpPr>
          <p:cNvPr id="11" name="Shape 9"/>
          <p:cNvSpPr/>
          <p:nvPr/>
        </p:nvSpPr>
        <p:spPr>
          <a:xfrm>
            <a:off x="502920" y="3163824"/>
            <a:ext cx="5120640" cy="548640"/>
          </a:xfrm>
          <a:prstGeom prst="rect">
            <a:avLst/>
          </a:prstGeom>
          <a:solidFill>
            <a:srgbClr val="FDECEA"/>
          </a:solidFill>
          <a:ln w="12700">
            <a:solidFill>
              <a:srgbClr val="E74C3C"/>
            </a:solidFill>
            <a:prstDash val="solid"/>
          </a:ln>
        </p:spPr>
        <p:txBody>
          <a:bodyPr/>
          <a:lstStyle/>
          <a:p>
            <a:endParaRPr lang="es-ES"/>
          </a:p>
        </p:txBody>
      </p:sp>
      <p:sp>
        <p:nvSpPr>
          <p:cNvPr id="12" name="Text 10"/>
          <p:cNvSpPr txBox="1"/>
          <p:nvPr/>
        </p:nvSpPr>
        <p:spPr>
          <a:xfrm>
            <a:off x="612648" y="3191256"/>
            <a:ext cx="4901184" cy="475488"/>
          </a:xfrm>
          <a:prstGeom prst="rect">
            <a:avLst/>
          </a:prstGeom>
          <a:noFill/>
          <a:ln/>
        </p:spPr>
        <p:txBody>
          <a:bodyPr wrap="square" lIns="0" tIns="0" rIns="0" bIns="0" rtlCol="0" anchor="ctr"/>
          <a:lstStyle/>
          <a:p>
            <a:pPr marL="0" indent="0">
              <a:buNone/>
            </a:pPr>
            <a:r>
              <a:rPr lang="en-US" sz="1400" dirty="0">
                <a:solidFill>
                  <a:srgbClr val="C0392B"/>
                </a:solidFill>
              </a:rPr>
              <a:t>Hipoglucemia severa (&lt; 54 mg/dL): riesgo de coma, daño cerebral, muerte</a:t>
            </a:r>
            <a:endParaRPr lang="en-US" sz="1400" dirty="0"/>
          </a:p>
        </p:txBody>
      </p:sp>
      <p:sp>
        <p:nvSpPr>
          <p:cNvPr id="13" name="Shape 11"/>
          <p:cNvSpPr/>
          <p:nvPr/>
        </p:nvSpPr>
        <p:spPr>
          <a:xfrm>
            <a:off x="502920" y="3822192"/>
            <a:ext cx="5120640" cy="548640"/>
          </a:xfrm>
          <a:prstGeom prst="rect">
            <a:avLst/>
          </a:prstGeom>
          <a:solidFill>
            <a:srgbClr val="F2F4F8"/>
          </a:solidFill>
          <a:ln w="12700">
            <a:solidFill>
              <a:srgbClr val="F2F4F8"/>
            </a:solidFill>
            <a:prstDash val="solid"/>
          </a:ln>
        </p:spPr>
        <p:txBody>
          <a:bodyPr/>
          <a:lstStyle/>
          <a:p>
            <a:endParaRPr lang="es-ES"/>
          </a:p>
        </p:txBody>
      </p:sp>
      <p:sp>
        <p:nvSpPr>
          <p:cNvPr id="14" name="Text 12"/>
          <p:cNvSpPr txBox="1"/>
          <p:nvPr/>
        </p:nvSpPr>
        <p:spPr>
          <a:xfrm>
            <a:off x="612648" y="3849624"/>
            <a:ext cx="4901184" cy="475488"/>
          </a:xfrm>
          <a:prstGeom prst="rect">
            <a:avLst/>
          </a:prstGeom>
          <a:noFill/>
          <a:ln/>
        </p:spPr>
        <p:txBody>
          <a:bodyPr wrap="square" lIns="0" tIns="0" rIns="0" bIns="0" rtlCol="0" anchor="ctr"/>
          <a:lstStyle/>
          <a:p>
            <a:pPr marL="0" indent="0">
              <a:buNone/>
            </a:pPr>
            <a:r>
              <a:rPr lang="en-US" sz="1400" dirty="0">
                <a:solidFill>
                  <a:srgbClr val="1A1A2E"/>
                </a:solidFill>
              </a:rPr>
              <a:t>Los modelos LSTM predicen glucosa futura a 60 min (PH=4) con buen rendimiento global</a:t>
            </a:r>
            <a:endParaRPr lang="en-US" sz="1400" dirty="0"/>
          </a:p>
        </p:txBody>
      </p:sp>
      <p:sp>
        <p:nvSpPr>
          <p:cNvPr id="15" name="Shape 13"/>
          <p:cNvSpPr/>
          <p:nvPr/>
        </p:nvSpPr>
        <p:spPr>
          <a:xfrm>
            <a:off x="6217920" y="1188720"/>
            <a:ext cx="411480" cy="384048"/>
          </a:xfrm>
          <a:prstGeom prst="rect">
            <a:avLst/>
          </a:prstGeom>
          <a:solidFill>
            <a:srgbClr val="922B21"/>
          </a:solidFill>
          <a:ln w="12700">
            <a:solidFill>
              <a:srgbClr val="922B21"/>
            </a:solidFill>
            <a:prstDash val="solid"/>
          </a:ln>
        </p:spPr>
        <p:txBody>
          <a:bodyPr/>
          <a:lstStyle/>
          <a:p>
            <a:endParaRPr lang="es-ES"/>
          </a:p>
        </p:txBody>
      </p:sp>
      <p:sp>
        <p:nvSpPr>
          <p:cNvPr id="16" name="Text 14"/>
          <p:cNvSpPr txBox="1"/>
          <p:nvPr/>
        </p:nvSpPr>
        <p:spPr>
          <a:xfrm>
            <a:off x="6720840" y="1188720"/>
            <a:ext cx="2286000" cy="384048"/>
          </a:xfrm>
          <a:prstGeom prst="rect">
            <a:avLst/>
          </a:prstGeom>
          <a:noFill/>
          <a:ln/>
        </p:spPr>
        <p:txBody>
          <a:bodyPr wrap="square" rtlCol="0" anchor="ctr"/>
          <a:lstStyle/>
          <a:p>
            <a:pPr marL="0" indent="0">
              <a:buNone/>
            </a:pPr>
            <a:r>
              <a:rPr lang="en-US" sz="1200" dirty="0">
                <a:solidFill>
                  <a:srgbClr val="1A1A2E"/>
                </a:solidFill>
              </a:rPr>
              <a:t>TAR-2 &gt; 250</a:t>
            </a:r>
            <a:endParaRPr lang="en-US" sz="1200" dirty="0"/>
          </a:p>
        </p:txBody>
      </p:sp>
      <p:sp>
        <p:nvSpPr>
          <p:cNvPr id="17" name="Shape 15"/>
          <p:cNvSpPr/>
          <p:nvPr/>
        </p:nvSpPr>
        <p:spPr>
          <a:xfrm>
            <a:off x="6217920" y="1572768"/>
            <a:ext cx="411480" cy="448056"/>
          </a:xfrm>
          <a:prstGeom prst="rect">
            <a:avLst/>
          </a:prstGeom>
          <a:solidFill>
            <a:srgbClr val="E74C3C"/>
          </a:solidFill>
          <a:ln w="12700">
            <a:solidFill>
              <a:srgbClr val="E74C3C"/>
            </a:solidFill>
            <a:prstDash val="solid"/>
          </a:ln>
        </p:spPr>
        <p:txBody>
          <a:bodyPr/>
          <a:lstStyle/>
          <a:p>
            <a:endParaRPr lang="es-ES"/>
          </a:p>
        </p:txBody>
      </p:sp>
      <p:sp>
        <p:nvSpPr>
          <p:cNvPr id="18" name="Text 16"/>
          <p:cNvSpPr txBox="1"/>
          <p:nvPr/>
        </p:nvSpPr>
        <p:spPr>
          <a:xfrm>
            <a:off x="6720840" y="1572768"/>
            <a:ext cx="2286000" cy="448056"/>
          </a:xfrm>
          <a:prstGeom prst="rect">
            <a:avLst/>
          </a:prstGeom>
          <a:noFill/>
          <a:ln/>
        </p:spPr>
        <p:txBody>
          <a:bodyPr wrap="square" rtlCol="0" anchor="ctr"/>
          <a:lstStyle/>
          <a:p>
            <a:pPr marL="0" indent="0">
              <a:buNone/>
            </a:pPr>
            <a:r>
              <a:rPr lang="en-US" sz="1200" dirty="0">
                <a:solidFill>
                  <a:srgbClr val="1A1A2E"/>
                </a:solidFill>
              </a:rPr>
              <a:t>TAR-1  181–250</a:t>
            </a:r>
            <a:endParaRPr lang="en-US" sz="1200" dirty="0"/>
          </a:p>
        </p:txBody>
      </p:sp>
      <p:sp>
        <p:nvSpPr>
          <p:cNvPr id="19" name="Shape 17"/>
          <p:cNvSpPr/>
          <p:nvPr/>
        </p:nvSpPr>
        <p:spPr>
          <a:xfrm>
            <a:off x="6217920" y="2020824"/>
            <a:ext cx="411480" cy="1280160"/>
          </a:xfrm>
          <a:prstGeom prst="rect">
            <a:avLst/>
          </a:prstGeom>
          <a:solidFill>
            <a:srgbClr val="27AE60"/>
          </a:solidFill>
          <a:ln w="12700">
            <a:solidFill>
              <a:srgbClr val="27AE60"/>
            </a:solidFill>
            <a:prstDash val="solid"/>
          </a:ln>
        </p:spPr>
        <p:txBody>
          <a:bodyPr/>
          <a:lstStyle/>
          <a:p>
            <a:endParaRPr lang="es-ES"/>
          </a:p>
        </p:txBody>
      </p:sp>
      <p:sp>
        <p:nvSpPr>
          <p:cNvPr id="20" name="Text 18"/>
          <p:cNvSpPr txBox="1"/>
          <p:nvPr/>
        </p:nvSpPr>
        <p:spPr>
          <a:xfrm>
            <a:off x="6720840" y="2020824"/>
            <a:ext cx="2286000" cy="1280160"/>
          </a:xfrm>
          <a:prstGeom prst="rect">
            <a:avLst/>
          </a:prstGeom>
          <a:noFill/>
          <a:ln/>
        </p:spPr>
        <p:txBody>
          <a:bodyPr wrap="square" rtlCol="0" anchor="ctr"/>
          <a:lstStyle/>
          <a:p>
            <a:pPr marL="0" indent="0">
              <a:buNone/>
            </a:pPr>
            <a:r>
              <a:rPr lang="en-US" sz="1200" dirty="0">
                <a:solidFill>
                  <a:srgbClr val="1A1A2E"/>
                </a:solidFill>
              </a:rPr>
              <a:t>TIR  70–180</a:t>
            </a:r>
            <a:endParaRPr lang="en-US" sz="1200" dirty="0"/>
          </a:p>
          <a:p>
            <a:pPr marL="0" indent="0">
              <a:buNone/>
            </a:pPr>
            <a:r>
              <a:rPr lang="en-US" sz="1200" dirty="0">
                <a:solidFill>
                  <a:srgbClr val="1A1A2E"/>
                </a:solidFill>
              </a:rPr>
              <a:t>Objetivo</a:t>
            </a:r>
            <a:endParaRPr lang="en-US" sz="1200" dirty="0"/>
          </a:p>
        </p:txBody>
      </p:sp>
      <p:sp>
        <p:nvSpPr>
          <p:cNvPr id="21" name="Shape 19"/>
          <p:cNvSpPr/>
          <p:nvPr/>
        </p:nvSpPr>
        <p:spPr>
          <a:xfrm>
            <a:off x="6217920" y="3300984"/>
            <a:ext cx="411480" cy="448056"/>
          </a:xfrm>
          <a:prstGeom prst="rect">
            <a:avLst/>
          </a:prstGeom>
          <a:solidFill>
            <a:srgbClr val="E67E22"/>
          </a:solidFill>
          <a:ln w="12700">
            <a:solidFill>
              <a:srgbClr val="E67E22"/>
            </a:solidFill>
            <a:prstDash val="solid"/>
          </a:ln>
        </p:spPr>
        <p:txBody>
          <a:bodyPr/>
          <a:lstStyle/>
          <a:p>
            <a:endParaRPr lang="es-ES"/>
          </a:p>
        </p:txBody>
      </p:sp>
      <p:sp>
        <p:nvSpPr>
          <p:cNvPr id="22" name="Text 20"/>
          <p:cNvSpPr txBox="1"/>
          <p:nvPr/>
        </p:nvSpPr>
        <p:spPr>
          <a:xfrm>
            <a:off x="6720840" y="3300984"/>
            <a:ext cx="2286000" cy="448056"/>
          </a:xfrm>
          <a:prstGeom prst="rect">
            <a:avLst/>
          </a:prstGeom>
          <a:noFill/>
          <a:ln/>
        </p:spPr>
        <p:txBody>
          <a:bodyPr wrap="square" rtlCol="0" anchor="ctr"/>
          <a:lstStyle/>
          <a:p>
            <a:pPr marL="0" indent="0">
              <a:buNone/>
            </a:pPr>
            <a:r>
              <a:rPr lang="en-US" sz="1200" dirty="0">
                <a:solidFill>
                  <a:srgbClr val="1A1A2E"/>
                </a:solidFill>
              </a:rPr>
              <a:t>TBR-1  54–69</a:t>
            </a:r>
            <a:endParaRPr lang="en-US" sz="1200" dirty="0"/>
          </a:p>
          <a:p>
            <a:pPr marL="0" indent="0">
              <a:buNone/>
            </a:pPr>
            <a:r>
              <a:rPr lang="en-US" sz="1200" dirty="0">
                <a:solidFill>
                  <a:srgbClr val="1A1A2E"/>
                </a:solidFill>
              </a:rPr>
              <a:t>Hipo leve</a:t>
            </a:r>
            <a:endParaRPr lang="en-US" sz="1200" dirty="0"/>
          </a:p>
        </p:txBody>
      </p:sp>
      <p:sp>
        <p:nvSpPr>
          <p:cNvPr id="23" name="Shape 21"/>
          <p:cNvSpPr/>
          <p:nvPr/>
        </p:nvSpPr>
        <p:spPr>
          <a:xfrm>
            <a:off x="6217920" y="3749040"/>
            <a:ext cx="411480" cy="640080"/>
          </a:xfrm>
          <a:prstGeom prst="rect">
            <a:avLst/>
          </a:prstGeom>
          <a:solidFill>
            <a:srgbClr val="1B2631"/>
          </a:solidFill>
          <a:ln w="12700">
            <a:solidFill>
              <a:srgbClr val="1B2631"/>
            </a:solidFill>
            <a:prstDash val="solid"/>
          </a:ln>
        </p:spPr>
        <p:txBody>
          <a:bodyPr/>
          <a:lstStyle/>
          <a:p>
            <a:endParaRPr lang="es-ES"/>
          </a:p>
        </p:txBody>
      </p:sp>
      <p:sp>
        <p:nvSpPr>
          <p:cNvPr id="24" name="Text 22"/>
          <p:cNvSpPr txBox="1"/>
          <p:nvPr/>
        </p:nvSpPr>
        <p:spPr>
          <a:xfrm>
            <a:off x="6720840" y="3749040"/>
            <a:ext cx="2286000" cy="640080"/>
          </a:xfrm>
          <a:prstGeom prst="rect">
            <a:avLst/>
          </a:prstGeom>
          <a:noFill/>
          <a:ln/>
        </p:spPr>
        <p:txBody>
          <a:bodyPr wrap="square" rtlCol="0" anchor="ctr"/>
          <a:lstStyle/>
          <a:p>
            <a:pPr marL="0" indent="0">
              <a:buNone/>
            </a:pPr>
            <a:r>
              <a:rPr lang="en-US" sz="1200" dirty="0">
                <a:solidFill>
                  <a:srgbClr val="1A1A2E"/>
                </a:solidFill>
              </a:rPr>
              <a:t>TBR-2 &lt; 54</a:t>
            </a:r>
            <a:endParaRPr lang="en-US" sz="1200" dirty="0"/>
          </a:p>
          <a:p>
            <a:pPr marL="0" indent="0">
              <a:buNone/>
            </a:pPr>
            <a:r>
              <a:rPr lang="en-US" sz="1200" dirty="0">
                <a:solidFill>
                  <a:srgbClr val="1A1A2E"/>
                </a:solidFill>
              </a:rPr>
              <a:t>Hipo severa</a:t>
            </a:r>
            <a:endParaRPr lang="en-US" sz="1200" dirty="0"/>
          </a:p>
        </p:txBody>
      </p:sp>
      <p:sp>
        <p:nvSpPr>
          <p:cNvPr id="25" name="Text 23"/>
          <p:cNvSpPr txBox="1"/>
          <p:nvPr/>
        </p:nvSpPr>
        <p:spPr>
          <a:xfrm>
            <a:off x="5852160" y="960120"/>
            <a:ext cx="822960" cy="228600"/>
          </a:xfrm>
          <a:prstGeom prst="rect">
            <a:avLst/>
          </a:prstGeom>
          <a:noFill/>
          <a:ln/>
        </p:spPr>
        <p:txBody>
          <a:bodyPr wrap="square" rtlCol="0" anchor="ctr"/>
          <a:lstStyle/>
          <a:p>
            <a:pPr marL="0" indent="0" algn="ctr">
              <a:buNone/>
            </a:pPr>
            <a:r>
              <a:rPr lang="en-US" sz="1200" dirty="0">
                <a:solidFill>
                  <a:srgbClr val="7F8C8D"/>
                </a:solidFill>
              </a:rPr>
              <a:t>mg/dL</a:t>
            </a:r>
            <a:endParaRPr lang="en-US" sz="1200" dirty="0"/>
          </a:p>
        </p:txBody>
      </p:sp>
      <p:sp>
        <p:nvSpPr>
          <p:cNvPr id="26" name="Text 24"/>
          <p:cNvSpPr txBox="1"/>
          <p:nvPr/>
        </p:nvSpPr>
        <p:spPr>
          <a:xfrm>
            <a:off x="6080760" y="4434840"/>
            <a:ext cx="1828800" cy="365760"/>
          </a:xfrm>
          <a:prstGeom prst="rect">
            <a:avLst/>
          </a:prstGeom>
          <a:noFill/>
          <a:ln/>
        </p:spPr>
        <p:txBody>
          <a:bodyPr wrap="square" rtlCol="0" anchor="ctr"/>
          <a:lstStyle/>
          <a:p>
            <a:pPr marL="0" indent="0">
              <a:buNone/>
            </a:pPr>
            <a:r>
              <a:rPr lang="en-US" sz="1200" dirty="0">
                <a:solidFill>
                  <a:srgbClr val="7F8C8D"/>
                </a:solidFill>
              </a:rPr>
              <a:t>Zonas glucémicas</a:t>
            </a:r>
            <a:endParaRPr lang="en-US" sz="1200" dirty="0"/>
          </a:p>
          <a:p>
            <a:pPr marL="0" indent="0">
              <a:buNone/>
            </a:pPr>
            <a:r>
              <a:rPr lang="en-US" sz="1200" dirty="0">
                <a:solidFill>
                  <a:srgbClr val="7F8C8D"/>
                </a:solidFill>
              </a:rPr>
              <a:t>(estándar clínico)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01168"/>
            <a:ext cx="8138160" cy="566928"/>
          </a:xfrm>
          <a:prstGeom prst="rect">
            <a:avLst/>
          </a:prstGeom>
          <a:noFill/>
          <a:ln/>
        </p:spPr>
        <p:txBody>
          <a:bodyPr wrap="square" rtlCol="0" anchor="ctr"/>
          <a:lstStyle/>
          <a:p>
            <a:pPr marL="0" indent="0">
              <a:buNone/>
            </a:pPr>
            <a:r>
              <a:rPr lang="en-US" sz="2800" b="1" dirty="0">
                <a:solidFill>
                  <a:srgbClr val="1A1A2E"/>
                </a:solidFill>
              </a:rPr>
              <a:t>¿El modelo trata igual a todos los pacientes?</a:t>
            </a:r>
            <a:endParaRPr lang="en-US" sz="2800" dirty="0"/>
          </a:p>
        </p:txBody>
      </p:sp>
      <p:sp>
        <p:nvSpPr>
          <p:cNvPr id="3" name="Shape 1"/>
          <p:cNvSpPr/>
          <p:nvPr/>
        </p:nvSpPr>
        <p:spPr>
          <a:xfrm>
            <a:off x="502920" y="5076444"/>
            <a:ext cx="8138160" cy="27432"/>
          </a:xfrm>
          <a:prstGeom prst="rect">
            <a:avLst/>
          </a:prstGeom>
          <a:solidFill>
            <a:srgbClr val="BDC3C7"/>
          </a:solidFill>
          <a:ln w="12700">
            <a:solidFill>
              <a:srgbClr val="BDC3C7"/>
            </a:solidFill>
            <a:prstDash val="solid"/>
          </a:ln>
        </p:spPr>
        <p:txBody>
          <a:bodyPr/>
          <a:lstStyle/>
          <a:p>
            <a:endParaRPr lang="es-ES"/>
          </a:p>
        </p:txBody>
      </p:sp>
      <p:sp>
        <p:nvSpPr>
          <p:cNvPr id="4" name="Text 2"/>
          <p:cNvSpPr txBox="1"/>
          <p:nvPr/>
        </p:nvSpPr>
        <p:spPr>
          <a:xfrm>
            <a:off x="8229600" y="4869180"/>
            <a:ext cx="777240" cy="201168"/>
          </a:xfrm>
          <a:prstGeom prst="rect">
            <a:avLst/>
          </a:prstGeom>
          <a:noFill/>
          <a:ln/>
        </p:spPr>
        <p:txBody>
          <a:bodyPr wrap="square" rtlCol="0" anchor="ctr"/>
          <a:lstStyle/>
          <a:p>
            <a:pPr marL="0" indent="0" algn="r">
              <a:buNone/>
            </a:pPr>
            <a:r>
              <a:rPr lang="en-US" sz="1200" dirty="0">
                <a:solidFill>
                  <a:srgbClr val="7F8C8D"/>
                </a:solidFill>
              </a:rPr>
              <a:t>3 / 12</a:t>
            </a:r>
            <a:endParaRPr lang="en-US" sz="1200" dirty="0"/>
          </a:p>
        </p:txBody>
      </p:sp>
      <p:sp>
        <p:nvSpPr>
          <p:cNvPr id="5" name="Shape 3"/>
          <p:cNvSpPr/>
          <p:nvPr/>
        </p:nvSpPr>
        <p:spPr>
          <a:xfrm>
            <a:off x="502920" y="1170432"/>
            <a:ext cx="8138160" cy="914400"/>
          </a:xfrm>
          <a:prstGeom prst="rect">
            <a:avLst/>
          </a:prstGeom>
          <a:solidFill>
            <a:srgbClr val="FEF9E7"/>
          </a:solidFill>
          <a:ln w="12700">
            <a:solidFill>
              <a:srgbClr val="FEF9E7"/>
            </a:solidFill>
            <a:prstDash val="solid"/>
          </a:ln>
        </p:spPr>
        <p:txBody>
          <a:bodyPr/>
          <a:lstStyle/>
          <a:p>
            <a:endParaRPr lang="es-ES"/>
          </a:p>
        </p:txBody>
      </p:sp>
      <p:sp>
        <p:nvSpPr>
          <p:cNvPr id="6" name="Shape 4"/>
          <p:cNvSpPr/>
          <p:nvPr/>
        </p:nvSpPr>
        <p:spPr>
          <a:xfrm>
            <a:off x="502920" y="1170432"/>
            <a:ext cx="64008" cy="914400"/>
          </a:xfrm>
          <a:prstGeom prst="rect">
            <a:avLst/>
          </a:prstGeom>
          <a:solidFill>
            <a:srgbClr val="E67E22"/>
          </a:solidFill>
          <a:ln w="12700">
            <a:solidFill>
              <a:srgbClr val="E67E22"/>
            </a:solidFill>
            <a:prstDash val="solid"/>
          </a:ln>
        </p:spPr>
        <p:txBody>
          <a:bodyPr/>
          <a:lstStyle/>
          <a:p>
            <a:endParaRPr lang="es-ES"/>
          </a:p>
        </p:txBody>
      </p:sp>
      <p:sp>
        <p:nvSpPr>
          <p:cNvPr id="7" name="Text 5"/>
          <p:cNvSpPr txBox="1"/>
          <p:nvPr/>
        </p:nvSpPr>
        <p:spPr>
          <a:xfrm>
            <a:off x="640080" y="1188720"/>
            <a:ext cx="1828800" cy="274320"/>
          </a:xfrm>
          <a:prstGeom prst="rect">
            <a:avLst/>
          </a:prstGeom>
          <a:noFill/>
          <a:ln/>
        </p:spPr>
        <p:txBody>
          <a:bodyPr wrap="square" rtlCol="0" anchor="ctr"/>
          <a:lstStyle/>
          <a:p>
            <a:pPr marL="0" indent="0">
              <a:buNone/>
            </a:pPr>
            <a:r>
              <a:rPr lang="en-US" sz="1400" b="1" dirty="0">
                <a:solidFill>
                  <a:srgbClr val="E67E22"/>
                </a:solidFill>
              </a:rPr>
              <a:t>Problema</a:t>
            </a:r>
            <a:endParaRPr lang="en-US" sz="1400" dirty="0"/>
          </a:p>
        </p:txBody>
      </p:sp>
      <p:sp>
        <p:nvSpPr>
          <p:cNvPr id="8" name="Text 6"/>
          <p:cNvSpPr txBox="1"/>
          <p:nvPr/>
        </p:nvSpPr>
        <p:spPr>
          <a:xfrm>
            <a:off x="640080" y="1463040"/>
            <a:ext cx="7909560" cy="548640"/>
          </a:xfrm>
          <a:prstGeom prst="rect">
            <a:avLst/>
          </a:prstGeom>
          <a:noFill/>
          <a:ln/>
        </p:spPr>
        <p:txBody>
          <a:bodyPr wrap="square" rtlCol="0" anchor="ctr"/>
          <a:lstStyle/>
          <a:p>
            <a:pPr marL="0" indent="0">
              <a:buNone/>
            </a:pPr>
            <a:r>
              <a:rPr lang="en-US" sz="1400" dirty="0">
                <a:solidFill>
                  <a:srgbClr val="1A1A2E"/>
                </a:solidFill>
              </a:rPr>
              <a:t>Las cohortes CGM disponibles tienen desequilibrios demográficos severos (edad y sexo). Subgrupos minoritarios —pacientes mayores, mujeres— pueden estar infrarepresentados en el entrenamiento, introduciendo sesgo sistemático en el modelo.</a:t>
            </a:r>
            <a:endParaRPr lang="en-US" sz="1400" dirty="0"/>
          </a:p>
        </p:txBody>
      </p:sp>
      <p:sp>
        <p:nvSpPr>
          <p:cNvPr id="9" name="Shape 7"/>
          <p:cNvSpPr/>
          <p:nvPr/>
        </p:nvSpPr>
        <p:spPr>
          <a:xfrm>
            <a:off x="502920" y="2359152"/>
            <a:ext cx="2651760" cy="2286000"/>
          </a:xfrm>
          <a:prstGeom prst="rect">
            <a:avLst/>
          </a:prstGeom>
          <a:solidFill>
            <a:srgbClr val="F2F4F8"/>
          </a:solidFill>
          <a:ln w="12700">
            <a:solidFill>
              <a:srgbClr val="F2F4F8"/>
            </a:solidFill>
            <a:prstDash val="solid"/>
          </a:ln>
        </p:spPr>
        <p:txBody>
          <a:bodyPr/>
          <a:lstStyle/>
          <a:p>
            <a:endParaRPr lang="es-ES"/>
          </a:p>
        </p:txBody>
      </p:sp>
      <p:sp>
        <p:nvSpPr>
          <p:cNvPr id="10" name="Shape 8"/>
          <p:cNvSpPr/>
          <p:nvPr/>
        </p:nvSpPr>
        <p:spPr>
          <a:xfrm>
            <a:off x="502920" y="2359152"/>
            <a:ext cx="2651760" cy="73152"/>
          </a:xfrm>
          <a:prstGeom prst="rect">
            <a:avLst/>
          </a:prstGeom>
          <a:solidFill>
            <a:srgbClr val="1B4F72"/>
          </a:solidFill>
          <a:ln w="12700">
            <a:solidFill>
              <a:srgbClr val="1B4F72"/>
            </a:solidFill>
            <a:prstDash val="solid"/>
          </a:ln>
        </p:spPr>
        <p:txBody>
          <a:bodyPr/>
          <a:lstStyle/>
          <a:p>
            <a:endParaRPr lang="es-ES"/>
          </a:p>
        </p:txBody>
      </p:sp>
      <p:sp>
        <p:nvSpPr>
          <p:cNvPr id="11" name="Text 9"/>
          <p:cNvSpPr txBox="1"/>
          <p:nvPr/>
        </p:nvSpPr>
        <p:spPr>
          <a:xfrm>
            <a:off x="594360" y="2487168"/>
            <a:ext cx="2468880" cy="320040"/>
          </a:xfrm>
          <a:prstGeom prst="rect">
            <a:avLst/>
          </a:prstGeom>
          <a:noFill/>
          <a:ln/>
        </p:spPr>
        <p:txBody>
          <a:bodyPr wrap="square" rtlCol="0" anchor="ctr"/>
          <a:lstStyle/>
          <a:p>
            <a:pPr marL="0" indent="0">
              <a:buNone/>
            </a:pPr>
            <a:r>
              <a:rPr lang="en-US" sz="1400" b="1" dirty="0">
                <a:solidFill>
                  <a:srgbClr val="1A1A2E"/>
                </a:solidFill>
              </a:rPr>
              <a:t>T1DiabetesGranada</a:t>
            </a:r>
            <a:endParaRPr lang="en-US" sz="1400" dirty="0"/>
          </a:p>
        </p:txBody>
      </p:sp>
      <p:sp>
        <p:nvSpPr>
          <p:cNvPr id="12" name="Text 10"/>
          <p:cNvSpPr txBox="1"/>
          <p:nvPr/>
        </p:nvSpPr>
        <p:spPr>
          <a:xfrm>
            <a:off x="594360" y="2834640"/>
            <a:ext cx="2468880" cy="1097280"/>
          </a:xfrm>
          <a:prstGeom prst="rect">
            <a:avLst/>
          </a:prstGeom>
          <a:noFill/>
          <a:ln/>
        </p:spPr>
        <p:txBody>
          <a:bodyPr wrap="square" rtlCol="0" anchor="ctr"/>
          <a:lstStyle/>
          <a:p>
            <a:pPr marL="0" indent="0">
              <a:buNone/>
            </a:pPr>
            <a:r>
              <a:rPr lang="en-US" sz="1200" dirty="0">
                <a:solidFill>
                  <a:srgbClr val="1A1A2E"/>
                </a:solidFill>
              </a:rPr>
              <a:t>643 pacientes</a:t>
            </a:r>
            <a:endParaRPr lang="en-US" sz="1200" dirty="0"/>
          </a:p>
          <a:p>
            <a:pPr marL="0" indent="0">
              <a:buNone/>
            </a:pPr>
            <a:r>
              <a:rPr lang="en-US" sz="1200" dirty="0">
                <a:solidFill>
                  <a:srgbClr val="1A1A2E"/>
                </a:solidFill>
              </a:rPr>
              <a:t>&gt;30 M mediciones</a:t>
            </a:r>
            <a:endParaRPr lang="en-US" sz="1200" dirty="0"/>
          </a:p>
          <a:p>
            <a:pPr marL="0" indent="0">
              <a:buNone/>
            </a:pPr>
            <a:r>
              <a:rPr lang="en-US" sz="1200" dirty="0">
                <a:solidFill>
                  <a:srgbClr val="1A1A2E"/>
                </a:solidFill>
              </a:rPr>
              <a:t>Desequil. edad: moderado</a:t>
            </a:r>
            <a:endParaRPr lang="en-US" sz="1200" dirty="0"/>
          </a:p>
        </p:txBody>
      </p:sp>
      <p:sp>
        <p:nvSpPr>
          <p:cNvPr id="13" name="Shape 11"/>
          <p:cNvSpPr/>
          <p:nvPr/>
        </p:nvSpPr>
        <p:spPr>
          <a:xfrm>
            <a:off x="3291840" y="2359152"/>
            <a:ext cx="2651760" cy="2286000"/>
          </a:xfrm>
          <a:prstGeom prst="rect">
            <a:avLst/>
          </a:prstGeom>
          <a:solidFill>
            <a:srgbClr val="F2F4F8"/>
          </a:solidFill>
          <a:ln w="12700">
            <a:solidFill>
              <a:srgbClr val="F2F4F8"/>
            </a:solidFill>
            <a:prstDash val="solid"/>
          </a:ln>
        </p:spPr>
        <p:txBody>
          <a:bodyPr/>
          <a:lstStyle/>
          <a:p>
            <a:endParaRPr lang="es-ES"/>
          </a:p>
        </p:txBody>
      </p:sp>
      <p:sp>
        <p:nvSpPr>
          <p:cNvPr id="14" name="Shape 12"/>
          <p:cNvSpPr/>
          <p:nvPr/>
        </p:nvSpPr>
        <p:spPr>
          <a:xfrm>
            <a:off x="3291840" y="2359152"/>
            <a:ext cx="2651760" cy="73152"/>
          </a:xfrm>
          <a:prstGeom prst="rect">
            <a:avLst/>
          </a:prstGeom>
          <a:solidFill>
            <a:srgbClr val="C0392B"/>
          </a:solidFill>
          <a:ln w="12700">
            <a:solidFill>
              <a:srgbClr val="C0392B"/>
            </a:solidFill>
            <a:prstDash val="solid"/>
          </a:ln>
        </p:spPr>
        <p:txBody>
          <a:bodyPr/>
          <a:lstStyle/>
          <a:p>
            <a:endParaRPr lang="es-ES"/>
          </a:p>
        </p:txBody>
      </p:sp>
      <p:sp>
        <p:nvSpPr>
          <p:cNvPr id="15" name="Text 13"/>
          <p:cNvSpPr txBox="1"/>
          <p:nvPr/>
        </p:nvSpPr>
        <p:spPr>
          <a:xfrm>
            <a:off x="3383280" y="2487168"/>
            <a:ext cx="2468880" cy="320040"/>
          </a:xfrm>
          <a:prstGeom prst="rect">
            <a:avLst/>
          </a:prstGeom>
          <a:noFill/>
          <a:ln/>
        </p:spPr>
        <p:txBody>
          <a:bodyPr wrap="square" rtlCol="0" anchor="ctr"/>
          <a:lstStyle/>
          <a:p>
            <a:pPr marL="0" indent="0">
              <a:buNone/>
            </a:pPr>
            <a:r>
              <a:rPr lang="en-US" sz="1400" b="1" dirty="0">
                <a:solidFill>
                  <a:srgbClr val="1A1A2E"/>
                </a:solidFill>
              </a:rPr>
              <a:t>DiaTrend</a:t>
            </a:r>
            <a:endParaRPr lang="en-US" sz="1400" dirty="0"/>
          </a:p>
        </p:txBody>
      </p:sp>
      <p:sp>
        <p:nvSpPr>
          <p:cNvPr id="16" name="Text 14"/>
          <p:cNvSpPr txBox="1"/>
          <p:nvPr/>
        </p:nvSpPr>
        <p:spPr>
          <a:xfrm>
            <a:off x="3383280" y="2834640"/>
            <a:ext cx="2468880" cy="1097280"/>
          </a:xfrm>
          <a:prstGeom prst="rect">
            <a:avLst/>
          </a:prstGeom>
          <a:noFill/>
          <a:ln/>
        </p:spPr>
        <p:txBody>
          <a:bodyPr wrap="square" rtlCol="0" anchor="ctr"/>
          <a:lstStyle/>
          <a:p>
            <a:pPr marL="0" indent="0">
              <a:buNone/>
            </a:pPr>
            <a:r>
              <a:rPr lang="en-US" sz="1200" dirty="0">
                <a:solidFill>
                  <a:srgbClr val="1A1A2E"/>
                </a:solidFill>
              </a:rPr>
              <a:t>51 pacientes</a:t>
            </a:r>
            <a:endParaRPr lang="en-US" sz="1200" dirty="0"/>
          </a:p>
          <a:p>
            <a:pPr marL="0" indent="0">
              <a:buNone/>
            </a:pPr>
            <a:r>
              <a:rPr lang="en-US" sz="1200" dirty="0">
                <a:solidFill>
                  <a:srgbClr val="1A1A2E"/>
                </a:solidFill>
              </a:rPr>
              <a:t>~3,5 M mediciones</a:t>
            </a:r>
            <a:endParaRPr lang="en-US" sz="1200" dirty="0"/>
          </a:p>
          <a:p>
            <a:pPr marL="0" indent="0">
              <a:buNone/>
            </a:pPr>
            <a:r>
              <a:rPr lang="en-US" sz="1200" dirty="0">
                <a:solidFill>
                  <a:srgbClr val="1A1A2E"/>
                </a:solidFill>
              </a:rPr>
              <a:t>Desequil. edad: 38:1 extremo</a:t>
            </a:r>
            <a:endParaRPr lang="en-US" sz="1200" dirty="0"/>
          </a:p>
        </p:txBody>
      </p:sp>
      <p:sp>
        <p:nvSpPr>
          <p:cNvPr id="17" name="Shape 15"/>
          <p:cNvSpPr/>
          <p:nvPr/>
        </p:nvSpPr>
        <p:spPr>
          <a:xfrm>
            <a:off x="6080760" y="2359152"/>
            <a:ext cx="2651760" cy="2286000"/>
          </a:xfrm>
          <a:prstGeom prst="rect">
            <a:avLst/>
          </a:prstGeom>
          <a:solidFill>
            <a:srgbClr val="F2F4F8"/>
          </a:solidFill>
          <a:ln w="12700">
            <a:solidFill>
              <a:srgbClr val="F2F4F8"/>
            </a:solidFill>
            <a:prstDash val="solid"/>
          </a:ln>
        </p:spPr>
        <p:txBody>
          <a:bodyPr/>
          <a:lstStyle/>
          <a:p>
            <a:endParaRPr lang="es-ES"/>
          </a:p>
        </p:txBody>
      </p:sp>
      <p:sp>
        <p:nvSpPr>
          <p:cNvPr id="18" name="Shape 16"/>
          <p:cNvSpPr/>
          <p:nvPr/>
        </p:nvSpPr>
        <p:spPr>
          <a:xfrm>
            <a:off x="6080760" y="2359152"/>
            <a:ext cx="2651760" cy="73152"/>
          </a:xfrm>
          <a:prstGeom prst="rect">
            <a:avLst/>
          </a:prstGeom>
          <a:solidFill>
            <a:srgbClr val="27AE60"/>
          </a:solidFill>
          <a:ln w="12700">
            <a:solidFill>
              <a:srgbClr val="27AE60"/>
            </a:solidFill>
            <a:prstDash val="solid"/>
          </a:ln>
        </p:spPr>
        <p:txBody>
          <a:bodyPr/>
          <a:lstStyle/>
          <a:p>
            <a:endParaRPr lang="es-ES"/>
          </a:p>
        </p:txBody>
      </p:sp>
      <p:sp>
        <p:nvSpPr>
          <p:cNvPr id="19" name="Text 17"/>
          <p:cNvSpPr txBox="1"/>
          <p:nvPr/>
        </p:nvSpPr>
        <p:spPr>
          <a:xfrm>
            <a:off x="6172200" y="2487168"/>
            <a:ext cx="2468880" cy="320040"/>
          </a:xfrm>
          <a:prstGeom prst="rect">
            <a:avLst/>
          </a:prstGeom>
          <a:noFill/>
          <a:ln/>
        </p:spPr>
        <p:txBody>
          <a:bodyPr wrap="square" rtlCol="0" anchor="ctr"/>
          <a:lstStyle/>
          <a:p>
            <a:pPr marL="0" indent="0">
              <a:buNone/>
            </a:pPr>
            <a:r>
              <a:rPr lang="en-US" sz="1400" b="1" dirty="0">
                <a:solidFill>
                  <a:srgbClr val="1A1A2E"/>
                </a:solidFill>
              </a:rPr>
              <a:t>REPLACE-BG</a:t>
            </a:r>
            <a:endParaRPr lang="en-US" sz="1400" dirty="0"/>
          </a:p>
        </p:txBody>
      </p:sp>
      <p:sp>
        <p:nvSpPr>
          <p:cNvPr id="20" name="Text 18"/>
          <p:cNvSpPr txBox="1"/>
          <p:nvPr/>
        </p:nvSpPr>
        <p:spPr>
          <a:xfrm>
            <a:off x="6172200" y="2834640"/>
            <a:ext cx="2468880" cy="1097280"/>
          </a:xfrm>
          <a:prstGeom prst="rect">
            <a:avLst/>
          </a:prstGeom>
          <a:noFill/>
          <a:ln/>
        </p:spPr>
        <p:txBody>
          <a:bodyPr wrap="square" rtlCol="0" anchor="ctr"/>
          <a:lstStyle/>
          <a:p>
            <a:pPr marL="0" indent="0">
              <a:buNone/>
            </a:pPr>
            <a:r>
              <a:rPr lang="en-US" sz="1200" dirty="0">
                <a:solidFill>
                  <a:srgbClr val="1A1A2E"/>
                </a:solidFill>
              </a:rPr>
              <a:t>~225 pacientes</a:t>
            </a:r>
            <a:endParaRPr lang="en-US" sz="1200" dirty="0"/>
          </a:p>
          <a:p>
            <a:pPr marL="0" indent="0">
              <a:buNone/>
            </a:pPr>
            <a:r>
              <a:rPr lang="en-US" sz="1200" dirty="0">
                <a:solidFill>
                  <a:srgbClr val="1A1A2E"/>
                </a:solidFill>
              </a:rPr>
              <a:t>Seguimiento estandarizado</a:t>
            </a:r>
            <a:endParaRPr lang="en-US" sz="1200" dirty="0"/>
          </a:p>
          <a:p>
            <a:pPr marL="0" indent="0">
              <a:buNone/>
            </a:pPr>
            <a:r>
              <a:rPr lang="en-US" sz="1200" dirty="0">
                <a:solidFill>
                  <a:srgbClr val="1A1A2E"/>
                </a:solidFill>
              </a:rPr>
              <a:t>Desequil. sexo: 2,2:1</a:t>
            </a:r>
            <a:endParaRPr lang="en-US" sz="1200" dirty="0"/>
          </a:p>
        </p:txBody>
      </p:sp>
      <p:sp>
        <p:nvSpPr>
          <p:cNvPr id="21" name="Text 19"/>
          <p:cNvSpPr txBox="1"/>
          <p:nvPr/>
        </p:nvSpPr>
        <p:spPr>
          <a:xfrm>
            <a:off x="502920" y="4258056"/>
            <a:ext cx="3200400" cy="246888"/>
          </a:xfrm>
          <a:prstGeom prst="rect">
            <a:avLst/>
          </a:prstGeom>
          <a:noFill/>
          <a:ln/>
        </p:spPr>
        <p:txBody>
          <a:bodyPr wrap="square" rtlCol="0" anchor="ctr"/>
          <a:lstStyle/>
          <a:p>
            <a:pPr marL="0" indent="0">
              <a:buNone/>
            </a:pPr>
            <a:r>
              <a:rPr lang="en-US" sz="1200" b="1" dirty="0">
                <a:solidFill>
                  <a:srgbClr val="1B4F72"/>
                </a:solidFill>
              </a:rPr>
              <a:t>Pregunta de investigación</a:t>
            </a:r>
            <a:endParaRPr lang="en-US" sz="1200" dirty="0"/>
          </a:p>
        </p:txBody>
      </p:sp>
      <p:sp>
        <p:nvSpPr>
          <p:cNvPr id="22" name="Text 20"/>
          <p:cNvSpPr txBox="1"/>
          <p:nvPr/>
        </p:nvSpPr>
        <p:spPr>
          <a:xfrm>
            <a:off x="502920" y="4486656"/>
            <a:ext cx="8138160" cy="320040"/>
          </a:xfrm>
          <a:prstGeom prst="rect">
            <a:avLst/>
          </a:prstGeom>
          <a:noFill/>
          <a:ln/>
        </p:spPr>
        <p:txBody>
          <a:bodyPr wrap="square" rtlCol="0" anchor="ctr"/>
          <a:lstStyle/>
          <a:p>
            <a:pPr marL="0" indent="0">
              <a:buNone/>
            </a:pPr>
            <a:r>
              <a:rPr lang="en-US" sz="1100" i="1" dirty="0">
                <a:solidFill>
                  <a:srgbClr val="1A1A2E"/>
                </a:solidFill>
              </a:rPr>
              <a:t>¿Mejora el balanceo demográfico del conjunto de entrenamiento el rendimiento clínico de un modelo LSTM, especialmente para subgrupos minoritarios?</a:t>
            </a:r>
            <a:endParaRPr lang="en-US" sz="1100" dirty="0"/>
          </a:p>
        </p:txBody>
      </p:sp>
      <p:sp>
        <p:nvSpPr>
          <p:cNvPr id="24" name="Shape 1">
            <a:extLst>
              <a:ext uri="{FF2B5EF4-FFF2-40B4-BE49-F238E27FC236}">
                <a16:creationId xmlns:a16="http://schemas.microsoft.com/office/drawing/2014/main" id="{77DC9C70-A070-8072-3EED-A767F799F04A}"/>
              </a:ext>
            </a:extLst>
          </p:cNvPr>
          <p:cNvSpPr/>
          <p:nvPr/>
        </p:nvSpPr>
        <p:spPr>
          <a:xfrm>
            <a:off x="502920" y="5070348"/>
            <a:ext cx="8138160" cy="27432"/>
          </a:xfrm>
          <a:prstGeom prst="rect">
            <a:avLst/>
          </a:prstGeom>
          <a:solidFill>
            <a:srgbClr val="BDC3C7"/>
          </a:solidFill>
          <a:ln w="12700">
            <a:solidFill>
              <a:srgbClr val="BDC3C7"/>
            </a:solidFill>
            <a:prstDash val="solid"/>
          </a:ln>
        </p:spPr>
        <p:txBody>
          <a:bodyPr/>
          <a:lstStyle/>
          <a:p>
            <a:endParaRPr lang="es-E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01168"/>
            <a:ext cx="8138160" cy="566928"/>
          </a:xfrm>
          <a:prstGeom prst="rect">
            <a:avLst/>
          </a:prstGeom>
          <a:noFill/>
          <a:ln/>
        </p:spPr>
        <p:txBody>
          <a:bodyPr wrap="square" rtlCol="0" anchor="ctr"/>
          <a:lstStyle/>
          <a:p>
            <a:pPr marL="0" indent="0">
              <a:buNone/>
            </a:pPr>
            <a:r>
              <a:rPr lang="en-US" sz="2800" b="1" dirty="0">
                <a:solidFill>
                  <a:srgbClr val="1A1A2E"/>
                </a:solidFill>
              </a:rPr>
              <a:t>Hipótesis y objetivos del trabajo</a:t>
            </a:r>
            <a:endParaRPr lang="en-US" sz="2800" dirty="0"/>
          </a:p>
        </p:txBody>
      </p:sp>
      <p:sp>
        <p:nvSpPr>
          <p:cNvPr id="3" name="Shape 1"/>
          <p:cNvSpPr/>
          <p:nvPr/>
        </p:nvSpPr>
        <p:spPr>
          <a:xfrm>
            <a:off x="502920" y="5070348"/>
            <a:ext cx="8138160" cy="27432"/>
          </a:xfrm>
          <a:prstGeom prst="rect">
            <a:avLst/>
          </a:prstGeom>
          <a:solidFill>
            <a:srgbClr val="BDC3C7"/>
          </a:solidFill>
          <a:ln w="12700">
            <a:solidFill>
              <a:srgbClr val="BDC3C7"/>
            </a:solidFill>
            <a:prstDash val="solid"/>
          </a:ln>
        </p:spPr>
        <p:txBody>
          <a:bodyPr/>
          <a:lstStyle/>
          <a:p>
            <a:endParaRPr lang="es-ES"/>
          </a:p>
        </p:txBody>
      </p:sp>
      <p:sp>
        <p:nvSpPr>
          <p:cNvPr id="4" name="Text 2"/>
          <p:cNvSpPr txBox="1"/>
          <p:nvPr/>
        </p:nvSpPr>
        <p:spPr>
          <a:xfrm>
            <a:off x="8229600" y="4869180"/>
            <a:ext cx="777240" cy="201168"/>
          </a:xfrm>
          <a:prstGeom prst="rect">
            <a:avLst/>
          </a:prstGeom>
          <a:noFill/>
          <a:ln/>
        </p:spPr>
        <p:txBody>
          <a:bodyPr wrap="square" rtlCol="0" anchor="ctr"/>
          <a:lstStyle/>
          <a:p>
            <a:pPr marL="0" indent="0" algn="r">
              <a:buNone/>
            </a:pPr>
            <a:r>
              <a:rPr lang="en-US" sz="1200" dirty="0">
                <a:solidFill>
                  <a:srgbClr val="7F8C8D"/>
                </a:solidFill>
              </a:rPr>
              <a:t>4 / 12</a:t>
            </a:r>
            <a:endParaRPr lang="en-US" sz="1200" dirty="0"/>
          </a:p>
        </p:txBody>
      </p:sp>
      <p:sp>
        <p:nvSpPr>
          <p:cNvPr id="5" name="Shape 3"/>
          <p:cNvSpPr/>
          <p:nvPr/>
        </p:nvSpPr>
        <p:spPr>
          <a:xfrm>
            <a:off x="502920" y="1170432"/>
            <a:ext cx="8138160" cy="822960"/>
          </a:xfrm>
          <a:prstGeom prst="rect">
            <a:avLst/>
          </a:prstGeom>
          <a:solidFill>
            <a:srgbClr val="EBF5FB"/>
          </a:solidFill>
          <a:ln w="12700">
            <a:solidFill>
              <a:srgbClr val="EBF5FB"/>
            </a:solidFill>
            <a:prstDash val="solid"/>
          </a:ln>
        </p:spPr>
        <p:txBody>
          <a:bodyPr/>
          <a:lstStyle/>
          <a:p>
            <a:endParaRPr lang="es-ES"/>
          </a:p>
        </p:txBody>
      </p:sp>
      <p:sp>
        <p:nvSpPr>
          <p:cNvPr id="6" name="Shape 4"/>
          <p:cNvSpPr/>
          <p:nvPr/>
        </p:nvSpPr>
        <p:spPr>
          <a:xfrm>
            <a:off x="502920" y="1170432"/>
            <a:ext cx="64008" cy="822960"/>
          </a:xfrm>
          <a:prstGeom prst="rect">
            <a:avLst/>
          </a:prstGeom>
          <a:solidFill>
            <a:srgbClr val="1B4F72"/>
          </a:solidFill>
          <a:ln w="12700">
            <a:solidFill>
              <a:srgbClr val="1B4F72"/>
            </a:solidFill>
            <a:prstDash val="solid"/>
          </a:ln>
        </p:spPr>
        <p:txBody>
          <a:bodyPr/>
          <a:lstStyle/>
          <a:p>
            <a:endParaRPr lang="es-ES"/>
          </a:p>
        </p:txBody>
      </p:sp>
      <p:sp>
        <p:nvSpPr>
          <p:cNvPr id="7" name="Text 5"/>
          <p:cNvSpPr txBox="1"/>
          <p:nvPr/>
        </p:nvSpPr>
        <p:spPr>
          <a:xfrm>
            <a:off x="640080" y="1188720"/>
            <a:ext cx="3200400" cy="256032"/>
          </a:xfrm>
          <a:prstGeom prst="rect">
            <a:avLst/>
          </a:prstGeom>
          <a:noFill/>
          <a:ln/>
        </p:spPr>
        <p:txBody>
          <a:bodyPr wrap="square" rtlCol="0" anchor="ctr"/>
          <a:lstStyle/>
          <a:p>
            <a:pPr marL="0" indent="0">
              <a:buNone/>
            </a:pPr>
            <a:r>
              <a:rPr lang="en-US" sz="1400" b="1" dirty="0">
                <a:solidFill>
                  <a:srgbClr val="1B4F72"/>
                </a:solidFill>
              </a:rPr>
              <a:t>Hipótesis de trabajo</a:t>
            </a:r>
            <a:endParaRPr lang="en-US" sz="1400" dirty="0"/>
          </a:p>
        </p:txBody>
      </p:sp>
      <p:sp>
        <p:nvSpPr>
          <p:cNvPr id="8" name="Text 6"/>
          <p:cNvSpPr txBox="1"/>
          <p:nvPr/>
        </p:nvSpPr>
        <p:spPr>
          <a:xfrm>
            <a:off x="640080" y="1463040"/>
            <a:ext cx="7909560" cy="475488"/>
          </a:xfrm>
          <a:prstGeom prst="rect">
            <a:avLst/>
          </a:prstGeom>
          <a:noFill/>
          <a:ln/>
        </p:spPr>
        <p:txBody>
          <a:bodyPr wrap="square" rtlCol="0" anchor="ctr"/>
          <a:lstStyle/>
          <a:p>
            <a:pPr marL="0" indent="0">
              <a:buNone/>
            </a:pPr>
            <a:r>
              <a:rPr lang="en-US" sz="1400" dirty="0">
                <a:solidFill>
                  <a:srgbClr val="1A1A2E"/>
                </a:solidFill>
              </a:rPr>
              <a:t>Equilibrar la composición demográfica del conjunto de entrenamiento mejora el rendimiento clínico del modelo LSTM, especialmente para los subgrupos minoritarios.</a:t>
            </a:r>
            <a:endParaRPr lang="en-US" sz="1400" dirty="0"/>
          </a:p>
        </p:txBody>
      </p:sp>
      <p:sp>
        <p:nvSpPr>
          <p:cNvPr id="11" name="Text 9"/>
          <p:cNvSpPr txBox="1"/>
          <p:nvPr/>
        </p:nvSpPr>
        <p:spPr>
          <a:xfrm>
            <a:off x="813816" y="2203704"/>
            <a:ext cx="3840480" cy="493776"/>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1A1A2E"/>
                </a:solidFill>
              </a:rPr>
              <a:t>Diseñar un pipeline de balanceo demográfico con separación estricta train/val/test</a:t>
            </a:r>
            <a:endParaRPr lang="en-US" sz="1200" dirty="0"/>
          </a:p>
        </p:txBody>
      </p:sp>
      <p:sp>
        <p:nvSpPr>
          <p:cNvPr id="14" name="Text 12"/>
          <p:cNvSpPr txBox="1"/>
          <p:nvPr/>
        </p:nvSpPr>
        <p:spPr>
          <a:xfrm>
            <a:off x="813816" y="2770632"/>
            <a:ext cx="3840480" cy="493776"/>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1A1A2E"/>
                </a:solidFill>
              </a:rPr>
              <a:t>Implementar 10 técnicas en 3 familias: aleatorias, guiadas e híbridas</a:t>
            </a:r>
            <a:endParaRPr lang="en-US" sz="1200" dirty="0"/>
          </a:p>
        </p:txBody>
      </p:sp>
      <p:sp>
        <p:nvSpPr>
          <p:cNvPr id="17" name="Text 15"/>
          <p:cNvSpPr txBox="1"/>
          <p:nvPr/>
        </p:nvSpPr>
        <p:spPr>
          <a:xfrm>
            <a:off x="813816" y="3337560"/>
            <a:ext cx="3840480" cy="493776"/>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1A1A2E"/>
                </a:solidFill>
              </a:rPr>
              <a:t>Evaluar el efecto sobre RMSE desagregado por rango glucémico (TBR-2, TIR, TAR…)</a:t>
            </a:r>
            <a:endParaRPr lang="en-US" sz="1200" dirty="0"/>
          </a:p>
        </p:txBody>
      </p:sp>
      <p:sp>
        <p:nvSpPr>
          <p:cNvPr id="20" name="Text 18"/>
          <p:cNvSpPr txBox="1"/>
          <p:nvPr/>
        </p:nvSpPr>
        <p:spPr>
          <a:xfrm>
            <a:off x="813816" y="3904488"/>
            <a:ext cx="3840480" cy="493776"/>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1A1A2E"/>
                </a:solidFill>
              </a:rPr>
              <a:t>Comparar balanceo por edad vs. balanceo por sexo</a:t>
            </a:r>
            <a:endParaRPr lang="en-US" sz="1200" dirty="0"/>
          </a:p>
        </p:txBody>
      </p:sp>
      <p:sp>
        <p:nvSpPr>
          <p:cNvPr id="23" name="Text 21"/>
          <p:cNvSpPr txBox="1"/>
          <p:nvPr/>
        </p:nvSpPr>
        <p:spPr>
          <a:xfrm>
            <a:off x="5111496" y="2203704"/>
            <a:ext cx="3840480" cy="493776"/>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1A1A2E"/>
                </a:solidFill>
              </a:rPr>
              <a:t>Caracterizar la robustez de los efectos entre los 3 datasets</a:t>
            </a:r>
            <a:endParaRPr lang="en-US" sz="1200" dirty="0"/>
          </a:p>
        </p:txBody>
      </p:sp>
      <p:sp>
        <p:nvSpPr>
          <p:cNvPr id="26" name="Text 24"/>
          <p:cNvSpPr txBox="1"/>
          <p:nvPr/>
        </p:nvSpPr>
        <p:spPr>
          <a:xfrm>
            <a:off x="5111496" y="2770632"/>
            <a:ext cx="3840480" cy="493776"/>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1A1A2E"/>
                </a:solidFill>
              </a:rPr>
              <a:t>Identificar la técnica con mejor rendimiento agregado (Friedman + Nemenyi + Borda)</a:t>
            </a:r>
            <a:endParaRPr lang="en-US" sz="1200" dirty="0"/>
          </a:p>
        </p:txBody>
      </p:sp>
      <p:sp>
        <p:nvSpPr>
          <p:cNvPr id="29" name="Text 27"/>
          <p:cNvSpPr txBox="1"/>
          <p:nvPr/>
        </p:nvSpPr>
        <p:spPr>
          <a:xfrm>
            <a:off x="5111496" y="3337560"/>
            <a:ext cx="3840480" cy="493776"/>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1A1A2E"/>
                </a:solidFill>
              </a:rPr>
              <a:t>Documentar compromisos clínicos con evidencia honesta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01168"/>
            <a:ext cx="8503920" cy="566928"/>
          </a:xfrm>
          <a:prstGeom prst="rect">
            <a:avLst/>
          </a:prstGeom>
          <a:noFill/>
          <a:ln/>
        </p:spPr>
        <p:txBody>
          <a:bodyPr wrap="square" rtlCol="0" anchor="ctr"/>
          <a:lstStyle/>
          <a:p>
            <a:pPr marL="0" indent="0">
              <a:buNone/>
            </a:pPr>
            <a:r>
              <a:rPr lang="en-US" sz="2800" b="1" dirty="0">
                <a:solidFill>
                  <a:srgbClr val="1A1A2E"/>
                </a:solidFill>
              </a:rPr>
              <a:t>Un pipeline experimental que garantiza comparabilidad</a:t>
            </a:r>
            <a:endParaRPr lang="en-US" sz="2800" dirty="0"/>
          </a:p>
        </p:txBody>
      </p:sp>
      <p:sp>
        <p:nvSpPr>
          <p:cNvPr id="3" name="Shape 1"/>
          <p:cNvSpPr/>
          <p:nvPr/>
        </p:nvSpPr>
        <p:spPr>
          <a:xfrm>
            <a:off x="502920" y="5070348"/>
            <a:ext cx="8138160" cy="27432"/>
          </a:xfrm>
          <a:prstGeom prst="rect">
            <a:avLst/>
          </a:prstGeom>
          <a:solidFill>
            <a:srgbClr val="BDC3C7"/>
          </a:solidFill>
          <a:ln w="12700">
            <a:solidFill>
              <a:srgbClr val="BDC3C7"/>
            </a:solidFill>
            <a:prstDash val="solid"/>
          </a:ln>
        </p:spPr>
        <p:txBody>
          <a:bodyPr/>
          <a:lstStyle/>
          <a:p>
            <a:endParaRPr lang="es-ES"/>
          </a:p>
        </p:txBody>
      </p:sp>
      <p:sp>
        <p:nvSpPr>
          <p:cNvPr id="4" name="Text 2"/>
          <p:cNvSpPr txBox="1"/>
          <p:nvPr/>
        </p:nvSpPr>
        <p:spPr>
          <a:xfrm>
            <a:off x="8229600" y="4869180"/>
            <a:ext cx="777240" cy="201168"/>
          </a:xfrm>
          <a:prstGeom prst="rect">
            <a:avLst/>
          </a:prstGeom>
          <a:noFill/>
          <a:ln/>
        </p:spPr>
        <p:txBody>
          <a:bodyPr wrap="square" rtlCol="0" anchor="ctr"/>
          <a:lstStyle/>
          <a:p>
            <a:pPr marL="0" indent="0" algn="r">
              <a:buNone/>
            </a:pPr>
            <a:r>
              <a:rPr lang="en-US" sz="1200" dirty="0">
                <a:solidFill>
                  <a:srgbClr val="7F8C8D"/>
                </a:solidFill>
              </a:rPr>
              <a:t>5 / 12</a:t>
            </a:r>
            <a:endParaRPr lang="en-US" sz="1200" dirty="0"/>
          </a:p>
        </p:txBody>
      </p:sp>
      <p:sp>
        <p:nvSpPr>
          <p:cNvPr id="5" name="Shape 3"/>
          <p:cNvSpPr/>
          <p:nvPr/>
        </p:nvSpPr>
        <p:spPr>
          <a:xfrm>
            <a:off x="502920" y="1188720"/>
            <a:ext cx="1508760" cy="1371600"/>
          </a:xfrm>
          <a:prstGeom prst="rect">
            <a:avLst/>
          </a:prstGeom>
          <a:solidFill>
            <a:srgbClr val="F2F4F8"/>
          </a:solidFill>
          <a:ln w="12700">
            <a:solidFill>
              <a:srgbClr val="F2F4F8"/>
            </a:solidFill>
            <a:prstDash val="solid"/>
          </a:ln>
        </p:spPr>
        <p:txBody>
          <a:bodyPr/>
          <a:lstStyle/>
          <a:p>
            <a:endParaRPr lang="es-ES"/>
          </a:p>
        </p:txBody>
      </p:sp>
      <p:sp>
        <p:nvSpPr>
          <p:cNvPr id="6" name="Shape 4"/>
          <p:cNvSpPr/>
          <p:nvPr/>
        </p:nvSpPr>
        <p:spPr>
          <a:xfrm>
            <a:off x="502920" y="1188720"/>
            <a:ext cx="1508760" cy="64008"/>
          </a:xfrm>
          <a:prstGeom prst="rect">
            <a:avLst/>
          </a:prstGeom>
          <a:solidFill>
            <a:srgbClr val="1B4F72"/>
          </a:solidFill>
          <a:ln w="12700">
            <a:solidFill>
              <a:srgbClr val="1B4F72"/>
            </a:solidFill>
            <a:prstDash val="solid"/>
          </a:ln>
        </p:spPr>
        <p:txBody>
          <a:bodyPr/>
          <a:lstStyle/>
          <a:p>
            <a:endParaRPr lang="es-ES"/>
          </a:p>
        </p:txBody>
      </p:sp>
      <p:sp>
        <p:nvSpPr>
          <p:cNvPr id="7" name="Text 5"/>
          <p:cNvSpPr txBox="1"/>
          <p:nvPr/>
        </p:nvSpPr>
        <p:spPr>
          <a:xfrm>
            <a:off x="576072" y="1280160"/>
            <a:ext cx="1371600" cy="512064"/>
          </a:xfrm>
          <a:prstGeom prst="rect">
            <a:avLst/>
          </a:prstGeom>
          <a:noFill/>
          <a:ln/>
        </p:spPr>
        <p:txBody>
          <a:bodyPr wrap="square" rtlCol="0" anchor="ctr"/>
          <a:lstStyle/>
          <a:p>
            <a:pPr marL="0" indent="0">
              <a:buNone/>
            </a:pPr>
            <a:r>
              <a:rPr lang="en-US" sz="1200" b="1" dirty="0">
                <a:solidFill>
                  <a:srgbClr val="1A1A2E"/>
                </a:solidFill>
              </a:rPr>
              <a:t>Datos CGM</a:t>
            </a:r>
            <a:endParaRPr lang="en-US" sz="1200" dirty="0"/>
          </a:p>
          <a:p>
            <a:pPr marL="0" indent="0">
              <a:buNone/>
            </a:pPr>
            <a:r>
              <a:rPr lang="en-US" sz="1200" b="1" dirty="0">
                <a:solidFill>
                  <a:srgbClr val="1A1A2E"/>
                </a:solidFill>
              </a:rPr>
              <a:t>(3 datasets)</a:t>
            </a:r>
            <a:endParaRPr lang="en-US" sz="1200" dirty="0"/>
          </a:p>
        </p:txBody>
      </p:sp>
      <p:sp>
        <p:nvSpPr>
          <p:cNvPr id="8" name="Text 6"/>
          <p:cNvSpPr txBox="1"/>
          <p:nvPr/>
        </p:nvSpPr>
        <p:spPr>
          <a:xfrm>
            <a:off x="576072" y="1810512"/>
            <a:ext cx="1371600" cy="658368"/>
          </a:xfrm>
          <a:prstGeom prst="rect">
            <a:avLst/>
          </a:prstGeom>
          <a:noFill/>
          <a:ln/>
        </p:spPr>
        <p:txBody>
          <a:bodyPr wrap="square" rtlCol="0" anchor="ctr"/>
          <a:lstStyle/>
          <a:p>
            <a:pPr marL="0" indent="0">
              <a:buNone/>
            </a:pPr>
            <a:r>
              <a:rPr lang="en-US" sz="1000" dirty="0">
                <a:solidFill>
                  <a:srgbClr val="7F8C8D"/>
                </a:solidFill>
              </a:rPr>
              <a:t>T1DGranada</a:t>
            </a:r>
            <a:endParaRPr lang="en-US" sz="1000" dirty="0"/>
          </a:p>
          <a:p>
            <a:pPr marL="0" indent="0">
              <a:buNone/>
            </a:pPr>
            <a:r>
              <a:rPr lang="en-US" sz="1000" dirty="0">
                <a:solidFill>
                  <a:srgbClr val="7F8C8D"/>
                </a:solidFill>
              </a:rPr>
              <a:t>DiaTrend</a:t>
            </a:r>
            <a:endParaRPr lang="en-US" sz="1000" dirty="0"/>
          </a:p>
          <a:p>
            <a:pPr marL="0" indent="0">
              <a:buNone/>
            </a:pPr>
            <a:r>
              <a:rPr lang="en-US" sz="1000" dirty="0">
                <a:solidFill>
                  <a:srgbClr val="7F8C8D"/>
                </a:solidFill>
              </a:rPr>
              <a:t>REPLACE-BG</a:t>
            </a:r>
            <a:endParaRPr lang="en-US" sz="1000" dirty="0"/>
          </a:p>
        </p:txBody>
      </p:sp>
      <p:sp>
        <p:nvSpPr>
          <p:cNvPr id="9" name="Shape 7"/>
          <p:cNvSpPr/>
          <p:nvPr/>
        </p:nvSpPr>
        <p:spPr>
          <a:xfrm>
            <a:off x="2011680" y="1810512"/>
            <a:ext cx="173736" cy="54864"/>
          </a:xfrm>
          <a:prstGeom prst="rect">
            <a:avLst/>
          </a:prstGeom>
          <a:solidFill>
            <a:srgbClr val="7F8C8D"/>
          </a:solidFill>
          <a:ln w="12700">
            <a:solidFill>
              <a:srgbClr val="7F8C8D"/>
            </a:solidFill>
            <a:prstDash val="solid"/>
          </a:ln>
        </p:spPr>
        <p:txBody>
          <a:bodyPr/>
          <a:lstStyle/>
          <a:p>
            <a:endParaRPr lang="es-ES"/>
          </a:p>
        </p:txBody>
      </p:sp>
      <p:sp>
        <p:nvSpPr>
          <p:cNvPr id="10" name="Shape 8"/>
          <p:cNvSpPr/>
          <p:nvPr/>
        </p:nvSpPr>
        <p:spPr>
          <a:xfrm>
            <a:off x="2185416" y="1188720"/>
            <a:ext cx="1508760" cy="1371600"/>
          </a:xfrm>
          <a:prstGeom prst="rect">
            <a:avLst/>
          </a:prstGeom>
          <a:solidFill>
            <a:srgbClr val="F2F4F8"/>
          </a:solidFill>
          <a:ln w="12700">
            <a:solidFill>
              <a:srgbClr val="F2F4F8"/>
            </a:solidFill>
            <a:prstDash val="solid"/>
          </a:ln>
        </p:spPr>
        <p:txBody>
          <a:bodyPr/>
          <a:lstStyle/>
          <a:p>
            <a:endParaRPr lang="es-ES"/>
          </a:p>
        </p:txBody>
      </p:sp>
      <p:sp>
        <p:nvSpPr>
          <p:cNvPr id="11" name="Shape 9"/>
          <p:cNvSpPr/>
          <p:nvPr/>
        </p:nvSpPr>
        <p:spPr>
          <a:xfrm>
            <a:off x="2185416" y="1188720"/>
            <a:ext cx="1508760" cy="64008"/>
          </a:xfrm>
          <a:prstGeom prst="rect">
            <a:avLst/>
          </a:prstGeom>
          <a:solidFill>
            <a:srgbClr val="2E86C1"/>
          </a:solidFill>
          <a:ln w="12700">
            <a:solidFill>
              <a:srgbClr val="2E86C1"/>
            </a:solidFill>
            <a:prstDash val="solid"/>
          </a:ln>
        </p:spPr>
        <p:txBody>
          <a:bodyPr/>
          <a:lstStyle/>
          <a:p>
            <a:endParaRPr lang="es-ES"/>
          </a:p>
        </p:txBody>
      </p:sp>
      <p:sp>
        <p:nvSpPr>
          <p:cNvPr id="12" name="Text 10"/>
          <p:cNvSpPr txBox="1"/>
          <p:nvPr/>
        </p:nvSpPr>
        <p:spPr>
          <a:xfrm>
            <a:off x="2258568" y="1280160"/>
            <a:ext cx="1371600" cy="512064"/>
          </a:xfrm>
          <a:prstGeom prst="rect">
            <a:avLst/>
          </a:prstGeom>
          <a:noFill/>
          <a:ln/>
        </p:spPr>
        <p:txBody>
          <a:bodyPr wrap="square" rtlCol="0" anchor="ctr"/>
          <a:lstStyle/>
          <a:p>
            <a:pPr marL="0" indent="0">
              <a:buNone/>
            </a:pPr>
            <a:r>
              <a:rPr lang="en-US" sz="1200" b="1" dirty="0">
                <a:solidFill>
                  <a:srgbClr val="1A1A2E"/>
                </a:solidFill>
              </a:rPr>
              <a:t>Group K-Fold</a:t>
            </a:r>
            <a:endParaRPr lang="en-US" sz="1200" dirty="0"/>
          </a:p>
          <a:p>
            <a:pPr marL="0" indent="0">
              <a:buNone/>
            </a:pPr>
            <a:r>
              <a:rPr lang="en-US" sz="1200" b="1" dirty="0">
                <a:solidFill>
                  <a:srgbClr val="1A1A2E"/>
                </a:solidFill>
              </a:rPr>
              <a:t>(K=5)</a:t>
            </a:r>
            <a:endParaRPr lang="en-US" sz="1200" dirty="0"/>
          </a:p>
        </p:txBody>
      </p:sp>
      <p:sp>
        <p:nvSpPr>
          <p:cNvPr id="13" name="Text 11"/>
          <p:cNvSpPr txBox="1"/>
          <p:nvPr/>
        </p:nvSpPr>
        <p:spPr>
          <a:xfrm>
            <a:off x="2258568" y="1810512"/>
            <a:ext cx="1371600" cy="658368"/>
          </a:xfrm>
          <a:prstGeom prst="rect">
            <a:avLst/>
          </a:prstGeom>
          <a:noFill/>
          <a:ln/>
        </p:spPr>
        <p:txBody>
          <a:bodyPr wrap="square" rtlCol="0" anchor="ctr"/>
          <a:lstStyle/>
          <a:p>
            <a:pPr marL="0" indent="0">
              <a:buNone/>
            </a:pPr>
            <a:r>
              <a:rPr lang="en-US" sz="1000" dirty="0">
                <a:solidFill>
                  <a:srgbClr val="7F8C8D"/>
                </a:solidFill>
              </a:rPr>
              <a:t>Separación</a:t>
            </a:r>
            <a:endParaRPr lang="en-US" sz="1000" dirty="0"/>
          </a:p>
          <a:p>
            <a:pPr marL="0" indent="0">
              <a:buNone/>
            </a:pPr>
            <a:r>
              <a:rPr lang="en-US" sz="1000" dirty="0">
                <a:solidFill>
                  <a:srgbClr val="7F8C8D"/>
                </a:solidFill>
              </a:rPr>
              <a:t>estricta paciente</a:t>
            </a:r>
            <a:endParaRPr lang="en-US" sz="1000" dirty="0"/>
          </a:p>
        </p:txBody>
      </p:sp>
      <p:sp>
        <p:nvSpPr>
          <p:cNvPr id="14" name="Shape 12"/>
          <p:cNvSpPr/>
          <p:nvPr/>
        </p:nvSpPr>
        <p:spPr>
          <a:xfrm>
            <a:off x="3694176" y="1810512"/>
            <a:ext cx="173736" cy="54864"/>
          </a:xfrm>
          <a:prstGeom prst="rect">
            <a:avLst/>
          </a:prstGeom>
          <a:solidFill>
            <a:srgbClr val="7F8C8D"/>
          </a:solidFill>
          <a:ln w="12700">
            <a:solidFill>
              <a:srgbClr val="7F8C8D"/>
            </a:solidFill>
            <a:prstDash val="solid"/>
          </a:ln>
        </p:spPr>
        <p:txBody>
          <a:bodyPr/>
          <a:lstStyle/>
          <a:p>
            <a:endParaRPr lang="es-ES"/>
          </a:p>
        </p:txBody>
      </p:sp>
      <p:sp>
        <p:nvSpPr>
          <p:cNvPr id="15" name="Shape 13"/>
          <p:cNvSpPr/>
          <p:nvPr/>
        </p:nvSpPr>
        <p:spPr>
          <a:xfrm>
            <a:off x="3867912" y="1188720"/>
            <a:ext cx="1508760" cy="1371600"/>
          </a:xfrm>
          <a:prstGeom prst="rect">
            <a:avLst/>
          </a:prstGeom>
          <a:solidFill>
            <a:srgbClr val="F2F4F8"/>
          </a:solidFill>
          <a:ln w="12700">
            <a:solidFill>
              <a:srgbClr val="F2F4F8"/>
            </a:solidFill>
            <a:prstDash val="solid"/>
          </a:ln>
        </p:spPr>
        <p:txBody>
          <a:bodyPr/>
          <a:lstStyle/>
          <a:p>
            <a:endParaRPr lang="es-ES"/>
          </a:p>
        </p:txBody>
      </p:sp>
      <p:sp>
        <p:nvSpPr>
          <p:cNvPr id="16" name="Shape 14"/>
          <p:cNvSpPr/>
          <p:nvPr/>
        </p:nvSpPr>
        <p:spPr>
          <a:xfrm>
            <a:off x="3867912" y="1188720"/>
            <a:ext cx="1508760" cy="64008"/>
          </a:xfrm>
          <a:prstGeom prst="rect">
            <a:avLst/>
          </a:prstGeom>
          <a:solidFill>
            <a:srgbClr val="E67E22"/>
          </a:solidFill>
          <a:ln w="12700">
            <a:solidFill>
              <a:srgbClr val="E67E22"/>
            </a:solidFill>
            <a:prstDash val="solid"/>
          </a:ln>
        </p:spPr>
        <p:txBody>
          <a:bodyPr/>
          <a:lstStyle/>
          <a:p>
            <a:endParaRPr lang="es-ES"/>
          </a:p>
        </p:txBody>
      </p:sp>
      <p:sp>
        <p:nvSpPr>
          <p:cNvPr id="17" name="Text 15"/>
          <p:cNvSpPr txBox="1"/>
          <p:nvPr/>
        </p:nvSpPr>
        <p:spPr>
          <a:xfrm>
            <a:off x="3941064" y="1280160"/>
            <a:ext cx="1371600" cy="512064"/>
          </a:xfrm>
          <a:prstGeom prst="rect">
            <a:avLst/>
          </a:prstGeom>
          <a:noFill/>
          <a:ln/>
        </p:spPr>
        <p:txBody>
          <a:bodyPr wrap="square" rtlCol="0" anchor="ctr"/>
          <a:lstStyle/>
          <a:p>
            <a:pPr marL="0" indent="0">
              <a:buNone/>
            </a:pPr>
            <a:r>
              <a:rPr lang="en-US" sz="1200" b="1" dirty="0">
                <a:solidFill>
                  <a:srgbClr val="1A1A2E"/>
                </a:solidFill>
              </a:rPr>
              <a:t>Balanceo</a:t>
            </a:r>
            <a:endParaRPr lang="en-US" sz="1200" dirty="0"/>
          </a:p>
          <a:p>
            <a:pPr marL="0" indent="0">
              <a:buNone/>
            </a:pPr>
            <a:r>
              <a:rPr lang="en-US" sz="1200" b="1" dirty="0">
                <a:solidFill>
                  <a:srgbClr val="1A1A2E"/>
                </a:solidFill>
              </a:rPr>
              <a:t>(solo train)</a:t>
            </a:r>
            <a:endParaRPr lang="en-US" sz="1200" dirty="0"/>
          </a:p>
        </p:txBody>
      </p:sp>
      <p:sp>
        <p:nvSpPr>
          <p:cNvPr id="18" name="Text 16"/>
          <p:cNvSpPr txBox="1"/>
          <p:nvPr/>
        </p:nvSpPr>
        <p:spPr>
          <a:xfrm>
            <a:off x="3941064" y="1810512"/>
            <a:ext cx="1371600" cy="658368"/>
          </a:xfrm>
          <a:prstGeom prst="rect">
            <a:avLst/>
          </a:prstGeom>
          <a:noFill/>
          <a:ln/>
        </p:spPr>
        <p:txBody>
          <a:bodyPr wrap="square" rtlCol="0" anchor="ctr"/>
          <a:lstStyle/>
          <a:p>
            <a:pPr marL="0" indent="0">
              <a:buNone/>
            </a:pPr>
            <a:r>
              <a:rPr lang="en-US" sz="1000" dirty="0">
                <a:solidFill>
                  <a:srgbClr val="7F8C8D"/>
                </a:solidFill>
              </a:rPr>
              <a:t>10 técnicas</a:t>
            </a:r>
            <a:endParaRPr lang="en-US" sz="1000" dirty="0"/>
          </a:p>
          <a:p>
            <a:pPr marL="0" indent="0">
              <a:buNone/>
            </a:pPr>
            <a:r>
              <a:rPr lang="en-US" sz="1000" dirty="0">
                <a:solidFill>
                  <a:srgbClr val="7F8C8D"/>
                </a:solidFill>
              </a:rPr>
              <a:t>× 2 dimensiones</a:t>
            </a:r>
            <a:endParaRPr lang="en-US" sz="1000" dirty="0"/>
          </a:p>
        </p:txBody>
      </p:sp>
      <p:sp>
        <p:nvSpPr>
          <p:cNvPr id="19" name="Shape 17"/>
          <p:cNvSpPr/>
          <p:nvPr/>
        </p:nvSpPr>
        <p:spPr>
          <a:xfrm>
            <a:off x="5376672" y="1810512"/>
            <a:ext cx="173736" cy="54864"/>
          </a:xfrm>
          <a:prstGeom prst="rect">
            <a:avLst/>
          </a:prstGeom>
          <a:solidFill>
            <a:srgbClr val="7F8C8D"/>
          </a:solidFill>
          <a:ln w="12700">
            <a:solidFill>
              <a:srgbClr val="7F8C8D"/>
            </a:solidFill>
            <a:prstDash val="solid"/>
          </a:ln>
        </p:spPr>
        <p:txBody>
          <a:bodyPr/>
          <a:lstStyle/>
          <a:p>
            <a:endParaRPr lang="es-ES"/>
          </a:p>
        </p:txBody>
      </p:sp>
      <p:sp>
        <p:nvSpPr>
          <p:cNvPr id="20" name="Shape 18"/>
          <p:cNvSpPr/>
          <p:nvPr/>
        </p:nvSpPr>
        <p:spPr>
          <a:xfrm>
            <a:off x="5550408" y="1188720"/>
            <a:ext cx="1508760" cy="1371600"/>
          </a:xfrm>
          <a:prstGeom prst="rect">
            <a:avLst/>
          </a:prstGeom>
          <a:solidFill>
            <a:srgbClr val="F2F4F8"/>
          </a:solidFill>
          <a:ln w="12700">
            <a:solidFill>
              <a:srgbClr val="F2F4F8"/>
            </a:solidFill>
            <a:prstDash val="solid"/>
          </a:ln>
        </p:spPr>
        <p:txBody>
          <a:bodyPr/>
          <a:lstStyle/>
          <a:p>
            <a:endParaRPr lang="es-ES"/>
          </a:p>
        </p:txBody>
      </p:sp>
      <p:sp>
        <p:nvSpPr>
          <p:cNvPr id="21" name="Shape 19"/>
          <p:cNvSpPr/>
          <p:nvPr/>
        </p:nvSpPr>
        <p:spPr>
          <a:xfrm>
            <a:off x="5550408" y="1188720"/>
            <a:ext cx="1508760" cy="64008"/>
          </a:xfrm>
          <a:prstGeom prst="rect">
            <a:avLst/>
          </a:prstGeom>
          <a:solidFill>
            <a:srgbClr val="1A1A2E"/>
          </a:solidFill>
          <a:ln w="12700">
            <a:solidFill>
              <a:srgbClr val="1A1A2E"/>
            </a:solidFill>
            <a:prstDash val="solid"/>
          </a:ln>
        </p:spPr>
        <p:txBody>
          <a:bodyPr/>
          <a:lstStyle/>
          <a:p>
            <a:endParaRPr lang="es-ES"/>
          </a:p>
        </p:txBody>
      </p:sp>
      <p:sp>
        <p:nvSpPr>
          <p:cNvPr id="22" name="Text 20"/>
          <p:cNvSpPr txBox="1"/>
          <p:nvPr/>
        </p:nvSpPr>
        <p:spPr>
          <a:xfrm>
            <a:off x="5623560" y="1280160"/>
            <a:ext cx="1371600" cy="512064"/>
          </a:xfrm>
          <a:prstGeom prst="rect">
            <a:avLst/>
          </a:prstGeom>
          <a:noFill/>
          <a:ln/>
        </p:spPr>
        <p:txBody>
          <a:bodyPr wrap="square" rtlCol="0" anchor="ctr"/>
          <a:lstStyle/>
          <a:p>
            <a:pPr marL="0" indent="0">
              <a:buNone/>
            </a:pPr>
            <a:r>
              <a:rPr lang="en-US" sz="1200" b="1" dirty="0">
                <a:solidFill>
                  <a:srgbClr val="1A1A2E"/>
                </a:solidFill>
              </a:rPr>
              <a:t>LSTM</a:t>
            </a:r>
            <a:endParaRPr lang="en-US" sz="1200" dirty="0"/>
          </a:p>
          <a:p>
            <a:pPr marL="0" indent="0">
              <a:buNone/>
            </a:pPr>
            <a:r>
              <a:rPr lang="en-US" sz="1200" b="1" dirty="0">
                <a:solidFill>
                  <a:srgbClr val="1A1A2E"/>
                </a:solidFill>
              </a:rPr>
              <a:t>PH=4 (60 min)</a:t>
            </a:r>
            <a:endParaRPr lang="en-US" sz="1200" dirty="0"/>
          </a:p>
        </p:txBody>
      </p:sp>
      <p:sp>
        <p:nvSpPr>
          <p:cNvPr id="23" name="Text 21"/>
          <p:cNvSpPr txBox="1"/>
          <p:nvPr/>
        </p:nvSpPr>
        <p:spPr>
          <a:xfrm>
            <a:off x="5623560" y="1810512"/>
            <a:ext cx="1371600" cy="658368"/>
          </a:xfrm>
          <a:prstGeom prst="rect">
            <a:avLst/>
          </a:prstGeom>
          <a:noFill/>
          <a:ln/>
        </p:spPr>
        <p:txBody>
          <a:bodyPr wrap="square" rtlCol="0" anchor="ctr"/>
          <a:lstStyle/>
          <a:p>
            <a:pPr marL="0" indent="0">
              <a:buNone/>
            </a:pPr>
            <a:r>
              <a:rPr lang="en-US" sz="1000" dirty="0">
                <a:solidFill>
                  <a:srgbClr val="7F8C8D"/>
                </a:solidFill>
              </a:rPr>
              <a:t>67,073 params</a:t>
            </a:r>
            <a:endParaRPr lang="en-US" sz="1000" dirty="0"/>
          </a:p>
          <a:p>
            <a:pPr marL="0" indent="0">
              <a:buNone/>
            </a:pPr>
            <a:r>
              <a:rPr lang="en-US" sz="1000" dirty="0">
                <a:solidFill>
                  <a:srgbClr val="7F8C8D"/>
                </a:solidFill>
              </a:rPr>
              <a:t>128 unidades</a:t>
            </a:r>
            <a:endParaRPr lang="en-US" sz="1000" dirty="0"/>
          </a:p>
        </p:txBody>
      </p:sp>
      <p:sp>
        <p:nvSpPr>
          <p:cNvPr id="24" name="Shape 22"/>
          <p:cNvSpPr/>
          <p:nvPr/>
        </p:nvSpPr>
        <p:spPr>
          <a:xfrm>
            <a:off x="7059168" y="1810512"/>
            <a:ext cx="173736" cy="54864"/>
          </a:xfrm>
          <a:prstGeom prst="rect">
            <a:avLst/>
          </a:prstGeom>
          <a:solidFill>
            <a:srgbClr val="7F8C8D"/>
          </a:solidFill>
          <a:ln w="12700">
            <a:solidFill>
              <a:srgbClr val="7F8C8D"/>
            </a:solidFill>
            <a:prstDash val="solid"/>
          </a:ln>
        </p:spPr>
        <p:txBody>
          <a:bodyPr/>
          <a:lstStyle/>
          <a:p>
            <a:endParaRPr lang="es-ES"/>
          </a:p>
        </p:txBody>
      </p:sp>
      <p:sp>
        <p:nvSpPr>
          <p:cNvPr id="25" name="Shape 23"/>
          <p:cNvSpPr/>
          <p:nvPr/>
        </p:nvSpPr>
        <p:spPr>
          <a:xfrm>
            <a:off x="7232904" y="1188720"/>
            <a:ext cx="1508760" cy="1371600"/>
          </a:xfrm>
          <a:prstGeom prst="rect">
            <a:avLst/>
          </a:prstGeom>
          <a:solidFill>
            <a:srgbClr val="F2F4F8"/>
          </a:solidFill>
          <a:ln w="12700">
            <a:solidFill>
              <a:srgbClr val="F2F4F8"/>
            </a:solidFill>
            <a:prstDash val="solid"/>
          </a:ln>
        </p:spPr>
        <p:txBody>
          <a:bodyPr/>
          <a:lstStyle/>
          <a:p>
            <a:endParaRPr lang="es-ES"/>
          </a:p>
        </p:txBody>
      </p:sp>
      <p:sp>
        <p:nvSpPr>
          <p:cNvPr id="26" name="Shape 24"/>
          <p:cNvSpPr/>
          <p:nvPr/>
        </p:nvSpPr>
        <p:spPr>
          <a:xfrm>
            <a:off x="7232904" y="1188720"/>
            <a:ext cx="1508760" cy="64008"/>
          </a:xfrm>
          <a:prstGeom prst="rect">
            <a:avLst/>
          </a:prstGeom>
          <a:solidFill>
            <a:srgbClr val="1E8449"/>
          </a:solidFill>
          <a:ln w="12700">
            <a:solidFill>
              <a:srgbClr val="1E8449"/>
            </a:solidFill>
            <a:prstDash val="solid"/>
          </a:ln>
        </p:spPr>
        <p:txBody>
          <a:bodyPr/>
          <a:lstStyle/>
          <a:p>
            <a:endParaRPr lang="es-ES"/>
          </a:p>
        </p:txBody>
      </p:sp>
      <p:sp>
        <p:nvSpPr>
          <p:cNvPr id="27" name="Text 25"/>
          <p:cNvSpPr txBox="1"/>
          <p:nvPr/>
        </p:nvSpPr>
        <p:spPr>
          <a:xfrm>
            <a:off x="7306056" y="1280160"/>
            <a:ext cx="1371600" cy="512064"/>
          </a:xfrm>
          <a:prstGeom prst="rect">
            <a:avLst/>
          </a:prstGeom>
          <a:noFill/>
          <a:ln/>
        </p:spPr>
        <p:txBody>
          <a:bodyPr wrap="square" rtlCol="0" anchor="ctr"/>
          <a:lstStyle/>
          <a:p>
            <a:pPr marL="0" indent="0">
              <a:buNone/>
            </a:pPr>
            <a:r>
              <a:rPr lang="en-US" sz="1200" b="1" dirty="0">
                <a:solidFill>
                  <a:srgbClr val="1A1A2E"/>
                </a:solidFill>
              </a:rPr>
              <a:t>Evaluación</a:t>
            </a:r>
            <a:endParaRPr lang="en-US" sz="1200" dirty="0"/>
          </a:p>
          <a:p>
            <a:pPr marL="0" indent="0">
              <a:buNone/>
            </a:pPr>
            <a:r>
              <a:rPr lang="en-US" sz="1200" b="1" dirty="0">
                <a:solidFill>
                  <a:srgbClr val="1A1A2E"/>
                </a:solidFill>
              </a:rPr>
              <a:t>por rango</a:t>
            </a:r>
            <a:endParaRPr lang="en-US" sz="1200" dirty="0"/>
          </a:p>
        </p:txBody>
      </p:sp>
      <p:sp>
        <p:nvSpPr>
          <p:cNvPr id="28" name="Text 26"/>
          <p:cNvSpPr txBox="1"/>
          <p:nvPr/>
        </p:nvSpPr>
        <p:spPr>
          <a:xfrm>
            <a:off x="7306056" y="1810512"/>
            <a:ext cx="1371600" cy="658368"/>
          </a:xfrm>
          <a:prstGeom prst="rect">
            <a:avLst/>
          </a:prstGeom>
          <a:noFill/>
          <a:ln/>
        </p:spPr>
        <p:txBody>
          <a:bodyPr wrap="square" rtlCol="0" anchor="ctr"/>
          <a:lstStyle/>
          <a:p>
            <a:pPr marL="0" indent="0">
              <a:buNone/>
            </a:pPr>
            <a:r>
              <a:rPr lang="en-US" sz="1000" dirty="0">
                <a:solidFill>
                  <a:srgbClr val="7F8C8D"/>
                </a:solidFill>
              </a:rPr>
              <a:t>RMSE / MAE</a:t>
            </a:r>
            <a:endParaRPr lang="en-US" sz="1000" dirty="0"/>
          </a:p>
          <a:p>
            <a:pPr marL="0" indent="0">
              <a:buNone/>
            </a:pPr>
            <a:r>
              <a:rPr lang="en-US" sz="1000" dirty="0">
                <a:solidFill>
                  <a:srgbClr val="7F8C8D"/>
                </a:solidFill>
              </a:rPr>
              <a:t>TBR-2 / TIR / TAR</a:t>
            </a:r>
            <a:endParaRPr lang="en-US" sz="1000" dirty="0"/>
          </a:p>
        </p:txBody>
      </p:sp>
      <p:sp>
        <p:nvSpPr>
          <p:cNvPr id="29" name="Text 27"/>
          <p:cNvSpPr txBox="1"/>
          <p:nvPr/>
        </p:nvSpPr>
        <p:spPr>
          <a:xfrm>
            <a:off x="502920" y="2545080"/>
            <a:ext cx="4114800" cy="502920"/>
          </a:xfrm>
          <a:prstGeom prst="rect">
            <a:avLst/>
          </a:prstGeom>
          <a:noFill/>
          <a:ln/>
        </p:spPr>
        <p:txBody>
          <a:bodyPr wrap="square" rtlCol="0" anchor="ctr"/>
          <a:lstStyle/>
          <a:p>
            <a:pPr marL="0" indent="0">
              <a:buNone/>
            </a:pPr>
            <a:r>
              <a:rPr lang="en-US" sz="1400" b="1" dirty="0">
                <a:solidFill>
                  <a:srgbClr val="1B4F72"/>
                </a:solidFill>
              </a:rPr>
              <a:t>315 entrenamientos totales</a:t>
            </a:r>
            <a:endParaRPr lang="en-US" sz="1400" dirty="0"/>
          </a:p>
          <a:p>
            <a:pPr marL="0" indent="0">
              <a:buNone/>
            </a:pPr>
            <a:r>
              <a:rPr lang="en-US" sz="1400" b="1" dirty="0">
                <a:solidFill>
                  <a:srgbClr val="1B4F72"/>
                </a:solidFill>
              </a:rPr>
              <a:t>(3 datasets × 21 condiciones × 5 folds)</a:t>
            </a:r>
            <a:endParaRPr lang="en-US" sz="1400" dirty="0"/>
          </a:p>
        </p:txBody>
      </p:sp>
      <p:sp>
        <p:nvSpPr>
          <p:cNvPr id="30" name="Text 28"/>
          <p:cNvSpPr txBox="1"/>
          <p:nvPr/>
        </p:nvSpPr>
        <p:spPr>
          <a:xfrm>
            <a:off x="502920" y="3093720"/>
            <a:ext cx="4572000" cy="274320"/>
          </a:xfrm>
          <a:prstGeom prst="rect">
            <a:avLst/>
          </a:prstGeom>
          <a:noFill/>
          <a:ln/>
        </p:spPr>
        <p:txBody>
          <a:bodyPr wrap="square" rtlCol="0" anchor="ctr"/>
          <a:lstStyle/>
          <a:p>
            <a:pPr marL="0" indent="0">
              <a:buNone/>
            </a:pPr>
            <a:r>
              <a:rPr lang="en-US" sz="1400" b="1" dirty="0">
                <a:solidFill>
                  <a:srgbClr val="1A1A2E"/>
                </a:solidFill>
              </a:rPr>
              <a:t>Taxonomía de técnicas de balanceo</a:t>
            </a:r>
            <a:endParaRPr lang="en-US" sz="1400" dirty="0"/>
          </a:p>
        </p:txBody>
      </p:sp>
      <p:sp>
        <p:nvSpPr>
          <p:cNvPr id="31" name="Shape 29"/>
          <p:cNvSpPr/>
          <p:nvPr/>
        </p:nvSpPr>
        <p:spPr>
          <a:xfrm>
            <a:off x="502920" y="3395472"/>
            <a:ext cx="8046720" cy="347472"/>
          </a:xfrm>
          <a:prstGeom prst="rect">
            <a:avLst/>
          </a:prstGeom>
          <a:solidFill>
            <a:srgbClr val="F2F4F8"/>
          </a:solidFill>
          <a:ln w="12700">
            <a:solidFill>
              <a:srgbClr val="F2F4F8"/>
            </a:solidFill>
            <a:prstDash val="solid"/>
          </a:ln>
        </p:spPr>
        <p:txBody>
          <a:bodyPr/>
          <a:lstStyle/>
          <a:p>
            <a:endParaRPr lang="es-ES"/>
          </a:p>
        </p:txBody>
      </p:sp>
      <p:sp>
        <p:nvSpPr>
          <p:cNvPr id="32" name="Shape 30"/>
          <p:cNvSpPr/>
          <p:nvPr/>
        </p:nvSpPr>
        <p:spPr>
          <a:xfrm>
            <a:off x="502920" y="3395472"/>
            <a:ext cx="64008" cy="347472"/>
          </a:xfrm>
          <a:prstGeom prst="rect">
            <a:avLst/>
          </a:prstGeom>
          <a:solidFill>
            <a:srgbClr val="2E86C1"/>
          </a:solidFill>
          <a:ln w="12700">
            <a:solidFill>
              <a:srgbClr val="2E86C1"/>
            </a:solidFill>
            <a:prstDash val="solid"/>
          </a:ln>
        </p:spPr>
        <p:txBody>
          <a:bodyPr/>
          <a:lstStyle/>
          <a:p>
            <a:endParaRPr lang="es-ES"/>
          </a:p>
        </p:txBody>
      </p:sp>
      <p:sp>
        <p:nvSpPr>
          <p:cNvPr id="33" name="Text 31"/>
          <p:cNvSpPr txBox="1"/>
          <p:nvPr/>
        </p:nvSpPr>
        <p:spPr>
          <a:xfrm>
            <a:off x="630936" y="3441192"/>
            <a:ext cx="1463040" cy="274320"/>
          </a:xfrm>
          <a:prstGeom prst="rect">
            <a:avLst/>
          </a:prstGeom>
          <a:noFill/>
          <a:ln/>
        </p:spPr>
        <p:txBody>
          <a:bodyPr wrap="square" rtlCol="0" anchor="ctr"/>
          <a:lstStyle/>
          <a:p>
            <a:pPr marL="0" indent="0">
              <a:buNone/>
            </a:pPr>
            <a:r>
              <a:rPr lang="en-US" sz="1200" b="1" dirty="0">
                <a:solidFill>
                  <a:srgbClr val="1A1A2E"/>
                </a:solidFill>
              </a:rPr>
              <a:t>Aleatorias</a:t>
            </a:r>
            <a:endParaRPr lang="en-US" sz="1200" dirty="0"/>
          </a:p>
        </p:txBody>
      </p:sp>
      <p:sp>
        <p:nvSpPr>
          <p:cNvPr id="34" name="Text 32"/>
          <p:cNvSpPr txBox="1"/>
          <p:nvPr/>
        </p:nvSpPr>
        <p:spPr>
          <a:xfrm>
            <a:off x="2057400" y="3441192"/>
            <a:ext cx="6400800" cy="274320"/>
          </a:xfrm>
          <a:prstGeom prst="rect">
            <a:avLst/>
          </a:prstGeom>
          <a:noFill/>
          <a:ln/>
        </p:spPr>
        <p:txBody>
          <a:bodyPr wrap="square" rtlCol="0" anchor="ctr"/>
          <a:lstStyle/>
          <a:p>
            <a:pPr marL="0" indent="0">
              <a:buNone/>
            </a:pPr>
            <a:r>
              <a:rPr lang="en-US" sz="1200" dirty="0">
                <a:solidFill>
                  <a:srgbClr val="1A1A2E"/>
                </a:solidFill>
              </a:rPr>
              <a:t>ROS · RUS · Jittering</a:t>
            </a:r>
            <a:endParaRPr lang="en-US" sz="1200" dirty="0"/>
          </a:p>
        </p:txBody>
      </p:sp>
      <p:sp>
        <p:nvSpPr>
          <p:cNvPr id="35" name="Shape 33"/>
          <p:cNvSpPr/>
          <p:nvPr/>
        </p:nvSpPr>
        <p:spPr>
          <a:xfrm>
            <a:off x="502920" y="3806952"/>
            <a:ext cx="8046720" cy="347472"/>
          </a:xfrm>
          <a:prstGeom prst="rect">
            <a:avLst/>
          </a:prstGeom>
          <a:solidFill>
            <a:srgbClr val="F2F4F8"/>
          </a:solidFill>
          <a:ln w="12700">
            <a:solidFill>
              <a:srgbClr val="F2F4F8"/>
            </a:solidFill>
            <a:prstDash val="solid"/>
          </a:ln>
        </p:spPr>
        <p:txBody>
          <a:bodyPr/>
          <a:lstStyle/>
          <a:p>
            <a:endParaRPr lang="es-ES"/>
          </a:p>
        </p:txBody>
      </p:sp>
      <p:sp>
        <p:nvSpPr>
          <p:cNvPr id="36" name="Shape 34"/>
          <p:cNvSpPr/>
          <p:nvPr/>
        </p:nvSpPr>
        <p:spPr>
          <a:xfrm>
            <a:off x="502920" y="3806952"/>
            <a:ext cx="64008" cy="347472"/>
          </a:xfrm>
          <a:prstGeom prst="rect">
            <a:avLst/>
          </a:prstGeom>
          <a:solidFill>
            <a:srgbClr val="E67E22"/>
          </a:solidFill>
          <a:ln w="12700">
            <a:solidFill>
              <a:srgbClr val="E67E22"/>
            </a:solidFill>
            <a:prstDash val="solid"/>
          </a:ln>
        </p:spPr>
        <p:txBody>
          <a:bodyPr/>
          <a:lstStyle/>
          <a:p>
            <a:endParaRPr lang="es-ES"/>
          </a:p>
        </p:txBody>
      </p:sp>
      <p:sp>
        <p:nvSpPr>
          <p:cNvPr id="37" name="Text 35"/>
          <p:cNvSpPr txBox="1"/>
          <p:nvPr/>
        </p:nvSpPr>
        <p:spPr>
          <a:xfrm>
            <a:off x="630936" y="3852672"/>
            <a:ext cx="1463040" cy="274320"/>
          </a:xfrm>
          <a:prstGeom prst="rect">
            <a:avLst/>
          </a:prstGeom>
          <a:noFill/>
          <a:ln/>
        </p:spPr>
        <p:txBody>
          <a:bodyPr wrap="square" rtlCol="0" anchor="ctr"/>
          <a:lstStyle/>
          <a:p>
            <a:pPr marL="0" indent="0">
              <a:buNone/>
            </a:pPr>
            <a:r>
              <a:rPr lang="en-US" sz="1200" b="1" dirty="0">
                <a:solidFill>
                  <a:srgbClr val="1A1A2E"/>
                </a:solidFill>
              </a:rPr>
              <a:t>Guiadas</a:t>
            </a:r>
            <a:endParaRPr lang="en-US" sz="1200" dirty="0"/>
          </a:p>
        </p:txBody>
      </p:sp>
      <p:sp>
        <p:nvSpPr>
          <p:cNvPr id="38" name="Text 36"/>
          <p:cNvSpPr txBox="1"/>
          <p:nvPr/>
        </p:nvSpPr>
        <p:spPr>
          <a:xfrm>
            <a:off x="2057400" y="3852672"/>
            <a:ext cx="6400800" cy="274320"/>
          </a:xfrm>
          <a:prstGeom prst="rect">
            <a:avLst/>
          </a:prstGeom>
          <a:noFill/>
          <a:ln/>
        </p:spPr>
        <p:txBody>
          <a:bodyPr wrap="square" rtlCol="0" anchor="ctr"/>
          <a:lstStyle/>
          <a:p>
            <a:pPr marL="0" indent="0">
              <a:buNone/>
            </a:pPr>
            <a:r>
              <a:rPr lang="en-US" sz="1200" dirty="0">
                <a:solidFill>
                  <a:srgbClr val="1A1A2E"/>
                </a:solidFill>
              </a:rPr>
              <a:t>SMOTE · Tomek Links · PA-Undersampling</a:t>
            </a:r>
            <a:endParaRPr lang="en-US" sz="1200" dirty="0"/>
          </a:p>
        </p:txBody>
      </p:sp>
      <p:sp>
        <p:nvSpPr>
          <p:cNvPr id="39" name="Shape 37"/>
          <p:cNvSpPr/>
          <p:nvPr/>
        </p:nvSpPr>
        <p:spPr>
          <a:xfrm>
            <a:off x="502920" y="4218432"/>
            <a:ext cx="8046720" cy="347472"/>
          </a:xfrm>
          <a:prstGeom prst="rect">
            <a:avLst/>
          </a:prstGeom>
          <a:solidFill>
            <a:srgbClr val="F2F4F8"/>
          </a:solidFill>
          <a:ln w="12700">
            <a:solidFill>
              <a:srgbClr val="F2F4F8"/>
            </a:solidFill>
            <a:prstDash val="solid"/>
          </a:ln>
        </p:spPr>
        <p:txBody>
          <a:bodyPr/>
          <a:lstStyle/>
          <a:p>
            <a:endParaRPr lang="es-ES"/>
          </a:p>
        </p:txBody>
      </p:sp>
      <p:sp>
        <p:nvSpPr>
          <p:cNvPr id="40" name="Shape 38"/>
          <p:cNvSpPr/>
          <p:nvPr/>
        </p:nvSpPr>
        <p:spPr>
          <a:xfrm>
            <a:off x="502920" y="4218432"/>
            <a:ext cx="64008" cy="347472"/>
          </a:xfrm>
          <a:prstGeom prst="rect">
            <a:avLst/>
          </a:prstGeom>
          <a:solidFill>
            <a:srgbClr val="1E8449"/>
          </a:solidFill>
          <a:ln w="12700">
            <a:solidFill>
              <a:srgbClr val="1E8449"/>
            </a:solidFill>
            <a:prstDash val="solid"/>
          </a:ln>
        </p:spPr>
        <p:txBody>
          <a:bodyPr/>
          <a:lstStyle/>
          <a:p>
            <a:endParaRPr lang="es-ES"/>
          </a:p>
        </p:txBody>
      </p:sp>
      <p:sp>
        <p:nvSpPr>
          <p:cNvPr id="41" name="Text 39"/>
          <p:cNvSpPr txBox="1"/>
          <p:nvPr/>
        </p:nvSpPr>
        <p:spPr>
          <a:xfrm>
            <a:off x="630936" y="4264152"/>
            <a:ext cx="1463040" cy="274320"/>
          </a:xfrm>
          <a:prstGeom prst="rect">
            <a:avLst/>
          </a:prstGeom>
          <a:noFill/>
          <a:ln/>
        </p:spPr>
        <p:txBody>
          <a:bodyPr wrap="square" rtlCol="0" anchor="ctr"/>
          <a:lstStyle/>
          <a:p>
            <a:pPr marL="0" indent="0">
              <a:buNone/>
            </a:pPr>
            <a:r>
              <a:rPr lang="en-US" sz="1200" b="1" dirty="0">
                <a:solidFill>
                  <a:srgbClr val="1A1A2E"/>
                </a:solidFill>
              </a:rPr>
              <a:t>Híbridas</a:t>
            </a:r>
            <a:endParaRPr lang="en-US" sz="1200" dirty="0"/>
          </a:p>
        </p:txBody>
      </p:sp>
      <p:sp>
        <p:nvSpPr>
          <p:cNvPr id="42" name="Text 40"/>
          <p:cNvSpPr txBox="1"/>
          <p:nvPr/>
        </p:nvSpPr>
        <p:spPr>
          <a:xfrm>
            <a:off x="2057400" y="4264152"/>
            <a:ext cx="6400800" cy="274320"/>
          </a:xfrm>
          <a:prstGeom prst="rect">
            <a:avLst/>
          </a:prstGeom>
          <a:noFill/>
          <a:ln/>
        </p:spPr>
        <p:txBody>
          <a:bodyPr wrap="square" rtlCol="0" anchor="ctr"/>
          <a:lstStyle/>
          <a:p>
            <a:pPr marL="0" indent="0">
              <a:buNone/>
            </a:pPr>
            <a:r>
              <a:rPr lang="en-US" sz="1200" dirty="0">
                <a:solidFill>
                  <a:srgbClr val="1A1A2E"/>
                </a:solidFill>
              </a:rPr>
              <a:t>RUS+ROS · RUS+SMOTE · SMOTE+Tomek · ROS+Tomek</a:t>
            </a:r>
            <a:endParaRPr lang="en-US" sz="1200" dirty="0"/>
          </a:p>
        </p:txBody>
      </p:sp>
      <p:sp>
        <p:nvSpPr>
          <p:cNvPr id="43" name="Text 41"/>
          <p:cNvSpPr txBox="1"/>
          <p:nvPr/>
        </p:nvSpPr>
        <p:spPr>
          <a:xfrm>
            <a:off x="5682996" y="2926080"/>
            <a:ext cx="3058668" cy="228600"/>
          </a:xfrm>
          <a:prstGeom prst="rect">
            <a:avLst/>
          </a:prstGeom>
          <a:noFill/>
          <a:ln/>
        </p:spPr>
        <p:txBody>
          <a:bodyPr wrap="square" rtlCol="0" anchor="ctr"/>
          <a:lstStyle/>
          <a:p>
            <a:pPr marL="0" indent="0">
              <a:buNone/>
            </a:pPr>
            <a:r>
              <a:rPr lang="en-US" sz="1200" i="1" dirty="0">
                <a:solidFill>
                  <a:srgbClr val="7F8C8D"/>
                </a:solidFill>
              </a:rPr>
              <a:t>Garantía metodológica clave: val y test son bit a bit idénticos entre las 21 condiciones — las diferencias de RMSE son solo del balanceo.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01168"/>
            <a:ext cx="8138160" cy="566928"/>
          </a:xfrm>
          <a:prstGeom prst="rect">
            <a:avLst/>
          </a:prstGeom>
          <a:noFill/>
          <a:ln/>
        </p:spPr>
        <p:txBody>
          <a:bodyPr wrap="square" rtlCol="0" anchor="ctr"/>
          <a:lstStyle/>
          <a:p>
            <a:pPr marL="0" indent="0">
              <a:buNone/>
            </a:pPr>
            <a:r>
              <a:rPr lang="en-US" sz="2800" b="1" dirty="0">
                <a:solidFill>
                  <a:srgbClr val="1A1A2E"/>
                </a:solidFill>
              </a:rPr>
              <a:t>El balanceo reshapeaba el entrenamiento — pero de forma muy diferente por dataset</a:t>
            </a:r>
            <a:endParaRPr lang="en-US" sz="2800" dirty="0"/>
          </a:p>
        </p:txBody>
      </p:sp>
      <p:sp>
        <p:nvSpPr>
          <p:cNvPr id="3" name="Shape 1"/>
          <p:cNvSpPr/>
          <p:nvPr/>
        </p:nvSpPr>
        <p:spPr>
          <a:xfrm>
            <a:off x="502920" y="5070348"/>
            <a:ext cx="8138160" cy="27432"/>
          </a:xfrm>
          <a:prstGeom prst="rect">
            <a:avLst/>
          </a:prstGeom>
          <a:solidFill>
            <a:srgbClr val="BDC3C7"/>
          </a:solidFill>
          <a:ln w="12700">
            <a:solidFill>
              <a:srgbClr val="BDC3C7"/>
            </a:solidFill>
            <a:prstDash val="solid"/>
          </a:ln>
        </p:spPr>
        <p:txBody>
          <a:bodyPr/>
          <a:lstStyle/>
          <a:p>
            <a:endParaRPr lang="es-ES"/>
          </a:p>
        </p:txBody>
      </p:sp>
      <p:sp>
        <p:nvSpPr>
          <p:cNvPr id="4" name="Text 2"/>
          <p:cNvSpPr txBox="1"/>
          <p:nvPr/>
        </p:nvSpPr>
        <p:spPr>
          <a:xfrm>
            <a:off x="8229600" y="4869180"/>
            <a:ext cx="777240" cy="201168"/>
          </a:xfrm>
          <a:prstGeom prst="rect">
            <a:avLst/>
          </a:prstGeom>
          <a:noFill/>
          <a:ln/>
        </p:spPr>
        <p:txBody>
          <a:bodyPr wrap="square" rtlCol="0" anchor="ctr"/>
          <a:lstStyle/>
          <a:p>
            <a:pPr marL="0" indent="0" algn="r">
              <a:buNone/>
            </a:pPr>
            <a:r>
              <a:rPr lang="en-US" sz="1200" dirty="0">
                <a:solidFill>
                  <a:srgbClr val="7F8C8D"/>
                </a:solidFill>
              </a:rPr>
              <a:t>6 / 12</a:t>
            </a:r>
            <a:endParaRPr lang="en-US" sz="1200" dirty="0"/>
          </a:p>
        </p:txBody>
      </p:sp>
      <p:sp>
        <p:nvSpPr>
          <p:cNvPr id="5" name="Shape 3"/>
          <p:cNvSpPr/>
          <p:nvPr/>
        </p:nvSpPr>
        <p:spPr>
          <a:xfrm>
            <a:off x="502920" y="1170432"/>
            <a:ext cx="2651760" cy="3657600"/>
          </a:xfrm>
          <a:prstGeom prst="rect">
            <a:avLst/>
          </a:prstGeom>
          <a:solidFill>
            <a:srgbClr val="F2F4F8"/>
          </a:solidFill>
          <a:ln w="12700">
            <a:solidFill>
              <a:srgbClr val="F2F4F8"/>
            </a:solidFill>
            <a:prstDash val="solid"/>
          </a:ln>
        </p:spPr>
        <p:txBody>
          <a:bodyPr/>
          <a:lstStyle/>
          <a:p>
            <a:endParaRPr lang="es-ES"/>
          </a:p>
        </p:txBody>
      </p:sp>
      <p:sp>
        <p:nvSpPr>
          <p:cNvPr id="6" name="Shape 4"/>
          <p:cNvSpPr/>
          <p:nvPr/>
        </p:nvSpPr>
        <p:spPr>
          <a:xfrm>
            <a:off x="502920" y="1170432"/>
            <a:ext cx="2651760" cy="64008"/>
          </a:xfrm>
          <a:prstGeom prst="rect">
            <a:avLst/>
          </a:prstGeom>
          <a:solidFill>
            <a:srgbClr val="1B4F72"/>
          </a:solidFill>
          <a:ln w="12700">
            <a:solidFill>
              <a:srgbClr val="1B4F72"/>
            </a:solidFill>
            <a:prstDash val="solid"/>
          </a:ln>
        </p:spPr>
        <p:txBody>
          <a:bodyPr/>
          <a:lstStyle/>
          <a:p>
            <a:endParaRPr lang="es-ES"/>
          </a:p>
        </p:txBody>
      </p:sp>
      <p:sp>
        <p:nvSpPr>
          <p:cNvPr id="7" name="Text 5"/>
          <p:cNvSpPr txBox="1"/>
          <p:nvPr/>
        </p:nvSpPr>
        <p:spPr>
          <a:xfrm>
            <a:off x="594360" y="1280160"/>
            <a:ext cx="2487168" cy="292608"/>
          </a:xfrm>
          <a:prstGeom prst="rect">
            <a:avLst/>
          </a:prstGeom>
          <a:noFill/>
          <a:ln/>
        </p:spPr>
        <p:txBody>
          <a:bodyPr wrap="square" rtlCol="0" anchor="ctr"/>
          <a:lstStyle/>
          <a:p>
            <a:pPr marL="0" indent="0">
              <a:buNone/>
            </a:pPr>
            <a:r>
              <a:rPr lang="en-US" sz="1400" b="1" dirty="0">
                <a:solidFill>
                  <a:srgbClr val="1A1A2E"/>
                </a:solidFill>
              </a:rPr>
              <a:t>T1DiabetesGranada</a:t>
            </a:r>
            <a:endParaRPr lang="en-US" sz="1400" dirty="0"/>
          </a:p>
        </p:txBody>
      </p:sp>
      <p:sp>
        <p:nvSpPr>
          <p:cNvPr id="8" name="Text 6"/>
          <p:cNvSpPr txBox="1"/>
          <p:nvPr/>
        </p:nvSpPr>
        <p:spPr>
          <a:xfrm>
            <a:off x="594360" y="1572768"/>
            <a:ext cx="2487168" cy="237744"/>
          </a:xfrm>
          <a:prstGeom prst="rect">
            <a:avLst/>
          </a:prstGeom>
          <a:noFill/>
          <a:ln/>
        </p:spPr>
        <p:txBody>
          <a:bodyPr wrap="square" rtlCol="0" anchor="ctr"/>
          <a:lstStyle/>
          <a:p>
            <a:pPr marL="0" indent="0">
              <a:buNone/>
            </a:pPr>
            <a:r>
              <a:rPr lang="en-US" sz="1200" dirty="0">
                <a:solidFill>
                  <a:srgbClr val="7F8C8D"/>
                </a:solidFill>
              </a:rPr>
              <a:t>643 pac. · &gt; 30 M mediciones</a:t>
            </a:r>
            <a:endParaRPr lang="en-US" sz="1200" dirty="0"/>
          </a:p>
        </p:txBody>
      </p:sp>
      <p:sp>
        <p:nvSpPr>
          <p:cNvPr id="9" name="Text 7"/>
          <p:cNvSpPr txBox="1"/>
          <p:nvPr/>
        </p:nvSpPr>
        <p:spPr>
          <a:xfrm>
            <a:off x="594360" y="1810512"/>
            <a:ext cx="2487168" cy="274320"/>
          </a:xfrm>
          <a:prstGeom prst="rect">
            <a:avLst/>
          </a:prstGeom>
          <a:noFill/>
          <a:ln/>
        </p:spPr>
        <p:txBody>
          <a:bodyPr wrap="square" rtlCol="0" anchor="ctr"/>
          <a:lstStyle/>
          <a:p>
            <a:pPr marL="0" indent="0">
              <a:buNone/>
            </a:pPr>
            <a:r>
              <a:rPr lang="en-US" sz="1200" b="1" dirty="0">
                <a:solidFill>
                  <a:srgbClr val="1B4F72"/>
                </a:solidFill>
              </a:rPr>
              <a:t>Desequilibrio edad: moderado</a:t>
            </a:r>
            <a:endParaRPr lang="en-US" sz="1200" dirty="0"/>
          </a:p>
        </p:txBody>
      </p:sp>
      <p:sp>
        <p:nvSpPr>
          <p:cNvPr id="10" name="Shape 8"/>
          <p:cNvSpPr/>
          <p:nvPr/>
        </p:nvSpPr>
        <p:spPr>
          <a:xfrm>
            <a:off x="594360" y="2148840"/>
            <a:ext cx="2468880" cy="1005840"/>
          </a:xfrm>
          <a:prstGeom prst="rect">
            <a:avLst/>
          </a:prstGeom>
          <a:solidFill>
            <a:srgbClr val="FFFFFF"/>
          </a:solidFill>
          <a:ln w="12700">
            <a:solidFill>
              <a:srgbClr val="FFFFFF"/>
            </a:solidFill>
            <a:prstDash val="solid"/>
          </a:ln>
        </p:spPr>
        <p:txBody>
          <a:bodyPr/>
          <a:lstStyle/>
          <a:p>
            <a:endParaRPr lang="es-ES"/>
          </a:p>
        </p:txBody>
      </p:sp>
      <p:sp>
        <p:nvSpPr>
          <p:cNvPr id="11" name="Text 9"/>
          <p:cNvSpPr txBox="1"/>
          <p:nvPr/>
        </p:nvSpPr>
        <p:spPr>
          <a:xfrm>
            <a:off x="640080" y="2176272"/>
            <a:ext cx="2377440" cy="228600"/>
          </a:xfrm>
          <a:prstGeom prst="rect">
            <a:avLst/>
          </a:prstGeom>
          <a:noFill/>
          <a:ln/>
        </p:spPr>
        <p:txBody>
          <a:bodyPr wrap="square" rtlCol="0" anchor="ctr"/>
          <a:lstStyle/>
          <a:p>
            <a:pPr marL="0" indent="0">
              <a:buNone/>
            </a:pPr>
            <a:r>
              <a:rPr lang="en-US" sz="1200" b="1" dirty="0">
                <a:solidFill>
                  <a:srgbClr val="1A1A2E"/>
                </a:solidFill>
              </a:rPr>
              <a:t>Efecto del balanceo:</a:t>
            </a:r>
            <a:endParaRPr lang="en-US" sz="1200" dirty="0"/>
          </a:p>
        </p:txBody>
      </p:sp>
      <p:sp>
        <p:nvSpPr>
          <p:cNvPr id="12" name="Text 10"/>
          <p:cNvSpPr txBox="1"/>
          <p:nvPr/>
        </p:nvSpPr>
        <p:spPr>
          <a:xfrm>
            <a:off x="640080" y="2395728"/>
            <a:ext cx="2377440" cy="713232"/>
          </a:xfrm>
          <a:prstGeom prst="rect">
            <a:avLst/>
          </a:prstGeom>
          <a:noFill/>
          <a:ln/>
        </p:spPr>
        <p:txBody>
          <a:bodyPr wrap="square" rtlCol="0" anchor="ctr"/>
          <a:lstStyle/>
          <a:p>
            <a:pPr marL="0" indent="0">
              <a:buNone/>
            </a:pPr>
            <a:r>
              <a:rPr lang="en-US" sz="1200" dirty="0">
                <a:solidFill>
                  <a:srgbClr val="1A1A2E"/>
                </a:solidFill>
              </a:rPr>
              <a:t>Balanceo produce ±25% cambio en grupo minoritario.</a:t>
            </a:r>
            <a:endParaRPr lang="en-US" sz="1200" dirty="0"/>
          </a:p>
          <a:p>
            <a:pPr marL="0" indent="0">
              <a:buNone/>
            </a:pPr>
            <a:r>
              <a:rPr lang="en-US" sz="1200" dirty="0">
                <a:solidFill>
                  <a:srgbClr val="1A1A2E"/>
                </a:solidFill>
              </a:rPr>
              <a:t>Efecto glucémico en TBR-2: mínimo (&lt;1% variación).</a:t>
            </a:r>
            <a:endParaRPr lang="en-US" sz="1200" dirty="0"/>
          </a:p>
        </p:txBody>
      </p:sp>
      <p:sp>
        <p:nvSpPr>
          <p:cNvPr id="13" name="Shape 11"/>
          <p:cNvSpPr/>
          <p:nvPr/>
        </p:nvSpPr>
        <p:spPr>
          <a:xfrm>
            <a:off x="594360" y="3218688"/>
            <a:ext cx="2468880" cy="658368"/>
          </a:xfrm>
          <a:prstGeom prst="rect">
            <a:avLst/>
          </a:prstGeom>
          <a:solidFill>
            <a:srgbClr val="EBF5FB"/>
          </a:solidFill>
          <a:ln w="12700">
            <a:solidFill>
              <a:srgbClr val="EBF5FB"/>
            </a:solidFill>
            <a:prstDash val="solid"/>
          </a:ln>
        </p:spPr>
        <p:txBody>
          <a:bodyPr/>
          <a:lstStyle/>
          <a:p>
            <a:endParaRPr lang="es-ES"/>
          </a:p>
        </p:txBody>
      </p:sp>
      <p:sp>
        <p:nvSpPr>
          <p:cNvPr id="14" name="Text 12"/>
          <p:cNvSpPr txBox="1"/>
          <p:nvPr/>
        </p:nvSpPr>
        <p:spPr>
          <a:xfrm>
            <a:off x="640080" y="3255264"/>
            <a:ext cx="2377440" cy="585216"/>
          </a:xfrm>
          <a:prstGeom prst="rect">
            <a:avLst/>
          </a:prstGeom>
          <a:noFill/>
          <a:ln/>
        </p:spPr>
        <p:txBody>
          <a:bodyPr wrap="square" rtlCol="0" anchor="ctr"/>
          <a:lstStyle/>
          <a:p>
            <a:pPr marL="0" indent="0">
              <a:buNone/>
            </a:pPr>
            <a:r>
              <a:rPr lang="en-US" sz="1200" i="1" dirty="0">
                <a:solidFill>
                  <a:srgbClr val="1B4F72"/>
                </a:solidFill>
              </a:rPr>
              <a:t>Dataset grande absorbe el balanceo sin cambiar distribución glucémica significativamente</a:t>
            </a:r>
            <a:endParaRPr lang="en-US" sz="1200" dirty="0"/>
          </a:p>
        </p:txBody>
      </p:sp>
      <p:sp>
        <p:nvSpPr>
          <p:cNvPr id="15" name="Shape 13"/>
          <p:cNvSpPr/>
          <p:nvPr/>
        </p:nvSpPr>
        <p:spPr>
          <a:xfrm>
            <a:off x="3291840" y="1170432"/>
            <a:ext cx="2651760" cy="3657600"/>
          </a:xfrm>
          <a:prstGeom prst="rect">
            <a:avLst/>
          </a:prstGeom>
          <a:solidFill>
            <a:srgbClr val="F2F4F8"/>
          </a:solidFill>
          <a:ln w="12700">
            <a:solidFill>
              <a:srgbClr val="F2F4F8"/>
            </a:solidFill>
            <a:prstDash val="solid"/>
          </a:ln>
        </p:spPr>
        <p:txBody>
          <a:bodyPr/>
          <a:lstStyle/>
          <a:p>
            <a:endParaRPr lang="es-ES"/>
          </a:p>
        </p:txBody>
      </p:sp>
      <p:sp>
        <p:nvSpPr>
          <p:cNvPr id="16" name="Shape 14"/>
          <p:cNvSpPr/>
          <p:nvPr/>
        </p:nvSpPr>
        <p:spPr>
          <a:xfrm>
            <a:off x="3291840" y="1170432"/>
            <a:ext cx="2651760" cy="64008"/>
          </a:xfrm>
          <a:prstGeom prst="rect">
            <a:avLst/>
          </a:prstGeom>
          <a:solidFill>
            <a:srgbClr val="C0392B"/>
          </a:solidFill>
          <a:ln w="12700">
            <a:solidFill>
              <a:srgbClr val="C0392B"/>
            </a:solidFill>
            <a:prstDash val="solid"/>
          </a:ln>
        </p:spPr>
        <p:txBody>
          <a:bodyPr/>
          <a:lstStyle/>
          <a:p>
            <a:endParaRPr lang="es-ES"/>
          </a:p>
        </p:txBody>
      </p:sp>
      <p:sp>
        <p:nvSpPr>
          <p:cNvPr id="17" name="Text 15"/>
          <p:cNvSpPr txBox="1"/>
          <p:nvPr/>
        </p:nvSpPr>
        <p:spPr>
          <a:xfrm>
            <a:off x="3383280" y="1280160"/>
            <a:ext cx="2487168" cy="292608"/>
          </a:xfrm>
          <a:prstGeom prst="rect">
            <a:avLst/>
          </a:prstGeom>
          <a:noFill/>
          <a:ln/>
        </p:spPr>
        <p:txBody>
          <a:bodyPr wrap="square" rtlCol="0" anchor="ctr"/>
          <a:lstStyle/>
          <a:p>
            <a:pPr marL="0" indent="0">
              <a:buNone/>
            </a:pPr>
            <a:r>
              <a:rPr lang="en-US" sz="1400" b="1" dirty="0">
                <a:solidFill>
                  <a:srgbClr val="1A1A2E"/>
                </a:solidFill>
              </a:rPr>
              <a:t>DiaTrend</a:t>
            </a:r>
            <a:endParaRPr lang="en-US" sz="1400" dirty="0"/>
          </a:p>
        </p:txBody>
      </p:sp>
      <p:sp>
        <p:nvSpPr>
          <p:cNvPr id="18" name="Text 16"/>
          <p:cNvSpPr txBox="1"/>
          <p:nvPr/>
        </p:nvSpPr>
        <p:spPr>
          <a:xfrm>
            <a:off x="3383280" y="1572768"/>
            <a:ext cx="2487168" cy="237744"/>
          </a:xfrm>
          <a:prstGeom prst="rect">
            <a:avLst/>
          </a:prstGeom>
          <a:noFill/>
          <a:ln/>
        </p:spPr>
        <p:txBody>
          <a:bodyPr wrap="square" rtlCol="0" anchor="ctr"/>
          <a:lstStyle/>
          <a:p>
            <a:pPr marL="0" indent="0">
              <a:buNone/>
            </a:pPr>
            <a:r>
              <a:rPr lang="en-US" sz="1200" dirty="0">
                <a:solidFill>
                  <a:srgbClr val="7F8C8D"/>
                </a:solidFill>
              </a:rPr>
              <a:t>51 pac. · ~3,5 M mediciones</a:t>
            </a:r>
            <a:endParaRPr lang="en-US" sz="1200" dirty="0"/>
          </a:p>
        </p:txBody>
      </p:sp>
      <p:sp>
        <p:nvSpPr>
          <p:cNvPr id="19" name="Text 17"/>
          <p:cNvSpPr txBox="1"/>
          <p:nvPr/>
        </p:nvSpPr>
        <p:spPr>
          <a:xfrm>
            <a:off x="3383280" y="1810512"/>
            <a:ext cx="2487168" cy="274320"/>
          </a:xfrm>
          <a:prstGeom prst="rect">
            <a:avLst/>
          </a:prstGeom>
          <a:noFill/>
          <a:ln/>
        </p:spPr>
        <p:txBody>
          <a:bodyPr wrap="square" rtlCol="0" anchor="ctr"/>
          <a:lstStyle/>
          <a:p>
            <a:pPr marL="0" indent="0">
              <a:buNone/>
            </a:pPr>
            <a:r>
              <a:rPr lang="en-US" sz="1200" b="1" dirty="0">
                <a:solidFill>
                  <a:srgbClr val="C0392B"/>
                </a:solidFill>
              </a:rPr>
              <a:t>Desequilibrio edad: 38:1 extremo</a:t>
            </a:r>
            <a:endParaRPr lang="en-US" sz="1200" dirty="0"/>
          </a:p>
        </p:txBody>
      </p:sp>
      <p:sp>
        <p:nvSpPr>
          <p:cNvPr id="20" name="Shape 18"/>
          <p:cNvSpPr/>
          <p:nvPr/>
        </p:nvSpPr>
        <p:spPr>
          <a:xfrm>
            <a:off x="3383280" y="2148840"/>
            <a:ext cx="2468880" cy="1005840"/>
          </a:xfrm>
          <a:prstGeom prst="rect">
            <a:avLst/>
          </a:prstGeom>
          <a:solidFill>
            <a:srgbClr val="FFFFFF"/>
          </a:solidFill>
          <a:ln w="12700">
            <a:solidFill>
              <a:srgbClr val="FFFFFF"/>
            </a:solidFill>
            <a:prstDash val="solid"/>
          </a:ln>
        </p:spPr>
        <p:txBody>
          <a:bodyPr/>
          <a:lstStyle/>
          <a:p>
            <a:endParaRPr lang="es-ES"/>
          </a:p>
        </p:txBody>
      </p:sp>
      <p:sp>
        <p:nvSpPr>
          <p:cNvPr id="21" name="Text 19"/>
          <p:cNvSpPr txBox="1"/>
          <p:nvPr/>
        </p:nvSpPr>
        <p:spPr>
          <a:xfrm>
            <a:off x="3429000" y="2176272"/>
            <a:ext cx="2377440" cy="228600"/>
          </a:xfrm>
          <a:prstGeom prst="rect">
            <a:avLst/>
          </a:prstGeom>
          <a:noFill/>
          <a:ln/>
        </p:spPr>
        <p:txBody>
          <a:bodyPr wrap="square" rtlCol="0" anchor="ctr"/>
          <a:lstStyle/>
          <a:p>
            <a:pPr marL="0" indent="0">
              <a:buNone/>
            </a:pPr>
            <a:r>
              <a:rPr lang="en-US" sz="1200" b="1" dirty="0">
                <a:solidFill>
                  <a:srgbClr val="1A1A2E"/>
                </a:solidFill>
              </a:rPr>
              <a:t>Efecto del balanceo:</a:t>
            </a:r>
            <a:endParaRPr lang="en-US" sz="1200" dirty="0"/>
          </a:p>
        </p:txBody>
      </p:sp>
      <p:sp>
        <p:nvSpPr>
          <p:cNvPr id="22" name="Text 20"/>
          <p:cNvSpPr txBox="1"/>
          <p:nvPr/>
        </p:nvSpPr>
        <p:spPr>
          <a:xfrm>
            <a:off x="3429000" y="2395728"/>
            <a:ext cx="2377440" cy="713232"/>
          </a:xfrm>
          <a:prstGeom prst="rect">
            <a:avLst/>
          </a:prstGeom>
          <a:noFill/>
          <a:ln/>
        </p:spPr>
        <p:txBody>
          <a:bodyPr wrap="square" rtlCol="0" anchor="ctr"/>
          <a:lstStyle/>
          <a:p>
            <a:pPr marL="0" indent="0">
              <a:buNone/>
            </a:pPr>
            <a:r>
              <a:rPr lang="en-US" sz="1200" dirty="0">
                <a:solidFill>
                  <a:srgbClr val="1A1A2E"/>
                </a:solidFill>
              </a:rPr>
              <a:t>ROS+SMOTE sobre grupo ≥66 años: ×95 en ventanas.</a:t>
            </a:r>
            <a:endParaRPr lang="en-US" sz="1200" dirty="0"/>
          </a:p>
          <a:p>
            <a:pPr marL="0" indent="0">
              <a:buNone/>
            </a:pPr>
            <a:r>
              <a:rPr lang="en-US" sz="1200" dirty="0">
                <a:solidFill>
                  <a:srgbClr val="1A1A2E"/>
                </a:solidFill>
              </a:rPr>
              <a:t>+9.490% en el grupo mayor.</a:t>
            </a:r>
            <a:endParaRPr lang="en-US" sz="1200" dirty="0"/>
          </a:p>
        </p:txBody>
      </p:sp>
      <p:sp>
        <p:nvSpPr>
          <p:cNvPr id="23" name="Shape 21"/>
          <p:cNvSpPr/>
          <p:nvPr/>
        </p:nvSpPr>
        <p:spPr>
          <a:xfrm>
            <a:off x="3383280" y="3218688"/>
            <a:ext cx="2468880" cy="658368"/>
          </a:xfrm>
          <a:prstGeom prst="rect">
            <a:avLst/>
          </a:prstGeom>
          <a:solidFill>
            <a:srgbClr val="EBF5FB"/>
          </a:solidFill>
          <a:ln w="12700">
            <a:solidFill>
              <a:srgbClr val="EBF5FB"/>
            </a:solidFill>
            <a:prstDash val="solid"/>
          </a:ln>
        </p:spPr>
        <p:txBody>
          <a:bodyPr/>
          <a:lstStyle/>
          <a:p>
            <a:endParaRPr lang="es-ES"/>
          </a:p>
        </p:txBody>
      </p:sp>
      <p:sp>
        <p:nvSpPr>
          <p:cNvPr id="24" name="Text 22"/>
          <p:cNvSpPr txBox="1"/>
          <p:nvPr/>
        </p:nvSpPr>
        <p:spPr>
          <a:xfrm>
            <a:off x="3429000" y="3255264"/>
            <a:ext cx="2377440" cy="585216"/>
          </a:xfrm>
          <a:prstGeom prst="rect">
            <a:avLst/>
          </a:prstGeom>
          <a:noFill/>
          <a:ln/>
        </p:spPr>
        <p:txBody>
          <a:bodyPr wrap="square" rtlCol="0" anchor="ctr"/>
          <a:lstStyle/>
          <a:p>
            <a:pPr marL="0" indent="0">
              <a:buNone/>
            </a:pPr>
            <a:r>
              <a:rPr lang="en-US" sz="1200" i="1" dirty="0">
                <a:solidFill>
                  <a:srgbClr val="1B4F72"/>
                </a:solidFill>
              </a:rPr>
              <a:t>Sesgo extremo dominante — balanceo sí genera efecto real pero con fragilidad estadística</a:t>
            </a:r>
            <a:endParaRPr lang="en-US" sz="1200" dirty="0"/>
          </a:p>
        </p:txBody>
      </p:sp>
      <p:sp>
        <p:nvSpPr>
          <p:cNvPr id="25" name="Shape 23"/>
          <p:cNvSpPr/>
          <p:nvPr/>
        </p:nvSpPr>
        <p:spPr>
          <a:xfrm>
            <a:off x="6080760" y="1170432"/>
            <a:ext cx="2651760" cy="3657600"/>
          </a:xfrm>
          <a:prstGeom prst="rect">
            <a:avLst/>
          </a:prstGeom>
          <a:solidFill>
            <a:srgbClr val="F2F4F8"/>
          </a:solidFill>
          <a:ln w="12700">
            <a:solidFill>
              <a:srgbClr val="F2F4F8"/>
            </a:solidFill>
            <a:prstDash val="solid"/>
          </a:ln>
        </p:spPr>
        <p:txBody>
          <a:bodyPr/>
          <a:lstStyle/>
          <a:p>
            <a:endParaRPr lang="es-ES"/>
          </a:p>
        </p:txBody>
      </p:sp>
      <p:sp>
        <p:nvSpPr>
          <p:cNvPr id="26" name="Shape 24"/>
          <p:cNvSpPr/>
          <p:nvPr/>
        </p:nvSpPr>
        <p:spPr>
          <a:xfrm>
            <a:off x="6080760" y="1170432"/>
            <a:ext cx="2651760" cy="64008"/>
          </a:xfrm>
          <a:prstGeom prst="rect">
            <a:avLst/>
          </a:prstGeom>
          <a:solidFill>
            <a:srgbClr val="27AE60"/>
          </a:solidFill>
          <a:ln w="12700">
            <a:solidFill>
              <a:srgbClr val="27AE60"/>
            </a:solidFill>
            <a:prstDash val="solid"/>
          </a:ln>
        </p:spPr>
        <p:txBody>
          <a:bodyPr/>
          <a:lstStyle/>
          <a:p>
            <a:endParaRPr lang="es-ES"/>
          </a:p>
        </p:txBody>
      </p:sp>
      <p:sp>
        <p:nvSpPr>
          <p:cNvPr id="27" name="Text 25"/>
          <p:cNvSpPr txBox="1"/>
          <p:nvPr/>
        </p:nvSpPr>
        <p:spPr>
          <a:xfrm>
            <a:off x="6172200" y="1280160"/>
            <a:ext cx="2487168" cy="292608"/>
          </a:xfrm>
          <a:prstGeom prst="rect">
            <a:avLst/>
          </a:prstGeom>
          <a:noFill/>
          <a:ln/>
        </p:spPr>
        <p:txBody>
          <a:bodyPr wrap="square" rtlCol="0" anchor="ctr"/>
          <a:lstStyle/>
          <a:p>
            <a:pPr marL="0" indent="0">
              <a:buNone/>
            </a:pPr>
            <a:r>
              <a:rPr lang="en-US" sz="1400" b="1" dirty="0">
                <a:solidFill>
                  <a:srgbClr val="1A1A2E"/>
                </a:solidFill>
              </a:rPr>
              <a:t>REPLACE-BG</a:t>
            </a:r>
            <a:endParaRPr lang="en-US" sz="1400" dirty="0"/>
          </a:p>
        </p:txBody>
      </p:sp>
      <p:sp>
        <p:nvSpPr>
          <p:cNvPr id="28" name="Text 26"/>
          <p:cNvSpPr txBox="1"/>
          <p:nvPr/>
        </p:nvSpPr>
        <p:spPr>
          <a:xfrm>
            <a:off x="6172200" y="1572768"/>
            <a:ext cx="2487168" cy="237744"/>
          </a:xfrm>
          <a:prstGeom prst="rect">
            <a:avLst/>
          </a:prstGeom>
          <a:noFill/>
          <a:ln/>
        </p:spPr>
        <p:txBody>
          <a:bodyPr wrap="square" rtlCol="0" anchor="ctr"/>
          <a:lstStyle/>
          <a:p>
            <a:pPr marL="0" indent="0">
              <a:buNone/>
            </a:pPr>
            <a:r>
              <a:rPr lang="en-US" sz="1200" dirty="0">
                <a:solidFill>
                  <a:srgbClr val="7F8C8D"/>
                </a:solidFill>
              </a:rPr>
              <a:t>~225 pac. · Seguimiento homogéneo</a:t>
            </a:r>
            <a:endParaRPr lang="en-US" sz="1200" dirty="0"/>
          </a:p>
        </p:txBody>
      </p:sp>
      <p:sp>
        <p:nvSpPr>
          <p:cNvPr id="29" name="Text 27"/>
          <p:cNvSpPr txBox="1"/>
          <p:nvPr/>
        </p:nvSpPr>
        <p:spPr>
          <a:xfrm>
            <a:off x="6172200" y="1810512"/>
            <a:ext cx="2487168" cy="274320"/>
          </a:xfrm>
          <a:prstGeom prst="rect">
            <a:avLst/>
          </a:prstGeom>
          <a:noFill/>
          <a:ln/>
        </p:spPr>
        <p:txBody>
          <a:bodyPr wrap="square" rtlCol="0" anchor="ctr"/>
          <a:lstStyle/>
          <a:p>
            <a:pPr marL="0" indent="0">
              <a:buNone/>
            </a:pPr>
            <a:r>
              <a:rPr lang="en-US" sz="1200" b="1" dirty="0">
                <a:solidFill>
                  <a:srgbClr val="27AE60"/>
                </a:solidFill>
              </a:rPr>
              <a:t>Desequilibrio sexo: 2,2:1</a:t>
            </a:r>
            <a:endParaRPr lang="en-US" sz="1200" dirty="0"/>
          </a:p>
        </p:txBody>
      </p:sp>
      <p:sp>
        <p:nvSpPr>
          <p:cNvPr id="30" name="Shape 28"/>
          <p:cNvSpPr/>
          <p:nvPr/>
        </p:nvSpPr>
        <p:spPr>
          <a:xfrm>
            <a:off x="6172200" y="2148840"/>
            <a:ext cx="2468880" cy="1005840"/>
          </a:xfrm>
          <a:prstGeom prst="rect">
            <a:avLst/>
          </a:prstGeom>
          <a:solidFill>
            <a:srgbClr val="FFFFFF"/>
          </a:solidFill>
          <a:ln w="12700">
            <a:solidFill>
              <a:srgbClr val="FFFFFF"/>
            </a:solidFill>
            <a:prstDash val="solid"/>
          </a:ln>
        </p:spPr>
        <p:txBody>
          <a:bodyPr/>
          <a:lstStyle/>
          <a:p>
            <a:endParaRPr lang="es-ES"/>
          </a:p>
        </p:txBody>
      </p:sp>
      <p:sp>
        <p:nvSpPr>
          <p:cNvPr id="31" name="Text 29"/>
          <p:cNvSpPr txBox="1"/>
          <p:nvPr/>
        </p:nvSpPr>
        <p:spPr>
          <a:xfrm>
            <a:off x="6217920" y="2176272"/>
            <a:ext cx="2377440" cy="228600"/>
          </a:xfrm>
          <a:prstGeom prst="rect">
            <a:avLst/>
          </a:prstGeom>
          <a:noFill/>
          <a:ln/>
        </p:spPr>
        <p:txBody>
          <a:bodyPr wrap="square" rtlCol="0" anchor="ctr"/>
          <a:lstStyle/>
          <a:p>
            <a:pPr marL="0" indent="0">
              <a:buNone/>
            </a:pPr>
            <a:r>
              <a:rPr lang="en-US" sz="1200" b="1" dirty="0">
                <a:solidFill>
                  <a:srgbClr val="1A1A2E"/>
                </a:solidFill>
              </a:rPr>
              <a:t>Efecto del balanceo:</a:t>
            </a:r>
            <a:endParaRPr lang="en-US" sz="1200" dirty="0"/>
          </a:p>
        </p:txBody>
      </p:sp>
      <p:sp>
        <p:nvSpPr>
          <p:cNvPr id="32" name="Text 30"/>
          <p:cNvSpPr txBox="1"/>
          <p:nvPr/>
        </p:nvSpPr>
        <p:spPr>
          <a:xfrm>
            <a:off x="6217920" y="2395728"/>
            <a:ext cx="2377440" cy="713232"/>
          </a:xfrm>
          <a:prstGeom prst="rect">
            <a:avLst/>
          </a:prstGeom>
          <a:noFill/>
          <a:ln/>
        </p:spPr>
        <p:txBody>
          <a:bodyPr wrap="square" rtlCol="0" anchor="ctr"/>
          <a:lstStyle/>
          <a:p>
            <a:pPr marL="0" indent="0">
              <a:buNone/>
            </a:pPr>
            <a:r>
              <a:rPr lang="en-US" sz="1200" dirty="0">
                <a:solidFill>
                  <a:srgbClr val="1A1A2E"/>
                </a:solidFill>
              </a:rPr>
              <a:t>Seguimientos estandarizados → heterogeneidad glucémica mínima entre grupos.</a:t>
            </a:r>
            <a:endParaRPr lang="en-US" sz="1200" dirty="0"/>
          </a:p>
        </p:txBody>
      </p:sp>
      <p:sp>
        <p:nvSpPr>
          <p:cNvPr id="33" name="Shape 31"/>
          <p:cNvSpPr/>
          <p:nvPr/>
        </p:nvSpPr>
        <p:spPr>
          <a:xfrm>
            <a:off x="6172200" y="3218688"/>
            <a:ext cx="2468880" cy="658368"/>
          </a:xfrm>
          <a:prstGeom prst="rect">
            <a:avLst/>
          </a:prstGeom>
          <a:solidFill>
            <a:srgbClr val="EBF5FB"/>
          </a:solidFill>
          <a:ln w="12700">
            <a:solidFill>
              <a:srgbClr val="EBF5FB"/>
            </a:solidFill>
            <a:prstDash val="solid"/>
          </a:ln>
        </p:spPr>
        <p:txBody>
          <a:bodyPr/>
          <a:lstStyle/>
          <a:p>
            <a:endParaRPr lang="es-ES"/>
          </a:p>
        </p:txBody>
      </p:sp>
      <p:sp>
        <p:nvSpPr>
          <p:cNvPr id="34" name="Text 32"/>
          <p:cNvSpPr txBox="1"/>
          <p:nvPr/>
        </p:nvSpPr>
        <p:spPr>
          <a:xfrm>
            <a:off x="6217920" y="3255264"/>
            <a:ext cx="2377440" cy="585216"/>
          </a:xfrm>
          <a:prstGeom prst="rect">
            <a:avLst/>
          </a:prstGeom>
          <a:noFill/>
          <a:ln/>
        </p:spPr>
        <p:txBody>
          <a:bodyPr wrap="square" rtlCol="0" anchor="ctr"/>
          <a:lstStyle/>
          <a:p>
            <a:pPr marL="0" indent="0">
              <a:buNone/>
            </a:pPr>
            <a:r>
              <a:rPr lang="en-US" sz="1200" i="1" dirty="0">
                <a:solidFill>
                  <a:srgbClr val="1B4F72"/>
                </a:solidFill>
              </a:rPr>
              <a:t>El problema que el balanceo intenta corregir no existe estructuralmente aquí</a:t>
            </a:r>
            <a:endParaRPr lang="en-US" sz="1200" dirty="0"/>
          </a:p>
        </p:txBody>
      </p:sp>
      <p:sp>
        <p:nvSpPr>
          <p:cNvPr id="35" name="Text 33"/>
          <p:cNvSpPr txBox="1"/>
          <p:nvPr/>
        </p:nvSpPr>
        <p:spPr>
          <a:xfrm>
            <a:off x="502920" y="4553712"/>
            <a:ext cx="8138160" cy="256032"/>
          </a:xfrm>
          <a:prstGeom prst="rect">
            <a:avLst/>
          </a:prstGeom>
          <a:noFill/>
          <a:ln/>
        </p:spPr>
        <p:txBody>
          <a:bodyPr wrap="square" rtlCol="0" anchor="ctr"/>
          <a:lstStyle/>
          <a:p>
            <a:pPr marL="0" indent="0">
              <a:buNone/>
            </a:pPr>
            <a:r>
              <a:rPr lang="en-US" sz="1100" b="1" dirty="0">
                <a:solidFill>
                  <a:srgbClr val="1A1A2E"/>
                </a:solidFill>
              </a:rPr>
              <a:t>→ El balanceo demográfico NO es automáticamente un balanceo glucémico: depende de la correlación entre subgrupo y perfil de glucosa.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01168"/>
            <a:ext cx="8138160" cy="566928"/>
          </a:xfrm>
          <a:prstGeom prst="rect">
            <a:avLst/>
          </a:prstGeom>
          <a:noFill/>
          <a:ln/>
        </p:spPr>
        <p:txBody>
          <a:bodyPr wrap="square" rtlCol="0" anchor="ctr"/>
          <a:lstStyle/>
          <a:p>
            <a:pPr marL="0" indent="0">
              <a:buNone/>
            </a:pPr>
            <a:r>
              <a:rPr lang="en-US" sz="2800" b="1" dirty="0">
                <a:solidFill>
                  <a:srgbClr val="1A1A2E"/>
                </a:solidFill>
              </a:rPr>
              <a:t>El LSTM es robusto al balanceo — pero con una excepción reveladora</a:t>
            </a:r>
            <a:endParaRPr lang="en-US" sz="2800" dirty="0"/>
          </a:p>
        </p:txBody>
      </p:sp>
      <p:sp>
        <p:nvSpPr>
          <p:cNvPr id="4" name="Text 2"/>
          <p:cNvSpPr txBox="1"/>
          <p:nvPr/>
        </p:nvSpPr>
        <p:spPr>
          <a:xfrm>
            <a:off x="8058912" y="4869180"/>
            <a:ext cx="777240" cy="201168"/>
          </a:xfrm>
          <a:prstGeom prst="rect">
            <a:avLst/>
          </a:prstGeom>
          <a:noFill/>
          <a:ln/>
        </p:spPr>
        <p:txBody>
          <a:bodyPr wrap="square" rtlCol="0" anchor="ctr"/>
          <a:lstStyle/>
          <a:p>
            <a:pPr marL="0" indent="0" algn="r">
              <a:buNone/>
            </a:pPr>
            <a:r>
              <a:rPr lang="en-US" sz="1200" dirty="0">
                <a:solidFill>
                  <a:srgbClr val="7F8C8D"/>
                </a:solidFill>
              </a:rPr>
              <a:t>7 / 12</a:t>
            </a:r>
            <a:endParaRPr lang="en-US" sz="1200" dirty="0"/>
          </a:p>
        </p:txBody>
      </p:sp>
      <p:sp>
        <p:nvSpPr>
          <p:cNvPr id="5" name="Text 3"/>
          <p:cNvSpPr txBox="1"/>
          <p:nvPr/>
        </p:nvSpPr>
        <p:spPr>
          <a:xfrm>
            <a:off x="502920" y="1170432"/>
            <a:ext cx="8138160" cy="274320"/>
          </a:xfrm>
          <a:prstGeom prst="rect">
            <a:avLst/>
          </a:prstGeom>
          <a:noFill/>
          <a:ln/>
        </p:spPr>
        <p:txBody>
          <a:bodyPr wrap="square" rtlCol="0" anchor="ctr"/>
          <a:lstStyle/>
          <a:p>
            <a:pPr marL="0" indent="0">
              <a:buNone/>
            </a:pPr>
            <a:r>
              <a:rPr lang="en-US" sz="1400" b="1" dirty="0">
                <a:solidFill>
                  <a:srgbClr val="1A1A2E"/>
                </a:solidFill>
              </a:rPr>
              <a:t>RMSE global (ENTIRE) — Baseline vs. rango de técnicas balanceadas</a:t>
            </a:r>
            <a:endParaRPr lang="en-US" sz="1400" dirty="0"/>
          </a:p>
        </p:txBody>
      </p:sp>
      <p:sp>
        <p:nvSpPr>
          <p:cNvPr id="6" name="Shape 4"/>
          <p:cNvSpPr/>
          <p:nvPr/>
        </p:nvSpPr>
        <p:spPr>
          <a:xfrm>
            <a:off x="332232" y="1481328"/>
            <a:ext cx="8503920" cy="320040"/>
          </a:xfrm>
          <a:prstGeom prst="rect">
            <a:avLst/>
          </a:prstGeom>
          <a:solidFill>
            <a:srgbClr val="1A1A2E"/>
          </a:solidFill>
          <a:ln w="12700">
            <a:solidFill>
              <a:srgbClr val="1A1A2E"/>
            </a:solidFill>
            <a:prstDash val="solid"/>
          </a:ln>
        </p:spPr>
        <p:txBody>
          <a:bodyPr/>
          <a:lstStyle/>
          <a:p>
            <a:endParaRPr lang="es-ES"/>
          </a:p>
        </p:txBody>
      </p:sp>
      <p:sp>
        <p:nvSpPr>
          <p:cNvPr id="7" name="Text 5"/>
          <p:cNvSpPr txBox="1"/>
          <p:nvPr/>
        </p:nvSpPr>
        <p:spPr>
          <a:xfrm>
            <a:off x="332232" y="1508760"/>
            <a:ext cx="2560320" cy="274320"/>
          </a:xfrm>
          <a:prstGeom prst="rect">
            <a:avLst/>
          </a:prstGeom>
          <a:noFill/>
          <a:ln/>
        </p:spPr>
        <p:txBody>
          <a:bodyPr wrap="square" rtlCol="0" anchor="ctr"/>
          <a:lstStyle/>
          <a:p>
            <a:pPr marL="0" indent="0">
              <a:buNone/>
            </a:pPr>
            <a:r>
              <a:rPr lang="en-US" sz="1200" b="1" dirty="0">
                <a:solidFill>
                  <a:srgbClr val="FFFFFF"/>
                </a:solidFill>
              </a:rPr>
              <a:t>Dataset</a:t>
            </a:r>
            <a:endParaRPr lang="en-US" sz="1200" dirty="0"/>
          </a:p>
        </p:txBody>
      </p:sp>
      <p:sp>
        <p:nvSpPr>
          <p:cNvPr id="8" name="Text 6"/>
          <p:cNvSpPr txBox="1"/>
          <p:nvPr/>
        </p:nvSpPr>
        <p:spPr>
          <a:xfrm>
            <a:off x="2938272" y="1508760"/>
            <a:ext cx="1828800" cy="274320"/>
          </a:xfrm>
          <a:prstGeom prst="rect">
            <a:avLst/>
          </a:prstGeom>
          <a:noFill/>
          <a:ln/>
        </p:spPr>
        <p:txBody>
          <a:bodyPr wrap="square" rtlCol="0" anchor="ctr"/>
          <a:lstStyle/>
          <a:p>
            <a:pPr marL="0" indent="0">
              <a:buNone/>
            </a:pPr>
            <a:r>
              <a:rPr lang="en-US" sz="1200" b="1" dirty="0">
                <a:solidFill>
                  <a:srgbClr val="FFFFFF"/>
                </a:solidFill>
              </a:rPr>
              <a:t>Baseline RMSE</a:t>
            </a:r>
            <a:endParaRPr lang="en-US" sz="1200" dirty="0"/>
          </a:p>
        </p:txBody>
      </p:sp>
      <p:sp>
        <p:nvSpPr>
          <p:cNvPr id="9" name="Text 7"/>
          <p:cNvSpPr txBox="1"/>
          <p:nvPr/>
        </p:nvSpPr>
        <p:spPr>
          <a:xfrm>
            <a:off x="4812792" y="1508760"/>
            <a:ext cx="1828800" cy="274320"/>
          </a:xfrm>
          <a:prstGeom prst="rect">
            <a:avLst/>
          </a:prstGeom>
          <a:noFill/>
          <a:ln/>
        </p:spPr>
        <p:txBody>
          <a:bodyPr wrap="square" rtlCol="0" anchor="ctr"/>
          <a:lstStyle/>
          <a:p>
            <a:pPr marL="0" indent="0">
              <a:buNone/>
            </a:pPr>
            <a:r>
              <a:rPr lang="en-US" sz="1200" b="1" dirty="0">
                <a:solidFill>
                  <a:srgbClr val="FFFFFF"/>
                </a:solidFill>
              </a:rPr>
              <a:t>Rango balanceado</a:t>
            </a:r>
            <a:endParaRPr lang="en-US" sz="1200" dirty="0"/>
          </a:p>
        </p:txBody>
      </p:sp>
      <p:sp>
        <p:nvSpPr>
          <p:cNvPr id="10" name="Text 8"/>
          <p:cNvSpPr txBox="1"/>
          <p:nvPr/>
        </p:nvSpPr>
        <p:spPr>
          <a:xfrm>
            <a:off x="6687312" y="1508760"/>
            <a:ext cx="1097280" cy="274320"/>
          </a:xfrm>
          <a:prstGeom prst="rect">
            <a:avLst/>
          </a:prstGeom>
          <a:noFill/>
          <a:ln/>
        </p:spPr>
        <p:txBody>
          <a:bodyPr wrap="square" rtlCol="0" anchor="ctr"/>
          <a:lstStyle/>
          <a:p>
            <a:pPr marL="0" indent="0">
              <a:buNone/>
            </a:pPr>
            <a:r>
              <a:rPr lang="en-US" sz="1200" b="1" dirty="0">
                <a:solidFill>
                  <a:srgbClr val="FFFFFF"/>
                </a:solidFill>
              </a:rPr>
              <a:t>Δ máx</a:t>
            </a:r>
            <a:endParaRPr lang="en-US" sz="1200" dirty="0"/>
          </a:p>
        </p:txBody>
      </p:sp>
      <p:sp>
        <p:nvSpPr>
          <p:cNvPr id="11" name="Text 9"/>
          <p:cNvSpPr txBox="1"/>
          <p:nvPr/>
        </p:nvSpPr>
        <p:spPr>
          <a:xfrm>
            <a:off x="7769352" y="1508760"/>
            <a:ext cx="1371600" cy="274320"/>
          </a:xfrm>
          <a:prstGeom prst="rect">
            <a:avLst/>
          </a:prstGeom>
          <a:noFill/>
          <a:ln/>
        </p:spPr>
        <p:txBody>
          <a:bodyPr wrap="square" rtlCol="0" anchor="ctr"/>
          <a:lstStyle/>
          <a:p>
            <a:pPr marL="0" indent="0">
              <a:buNone/>
            </a:pPr>
            <a:r>
              <a:rPr lang="en-US" sz="1200" b="1" dirty="0">
                <a:solidFill>
                  <a:srgbClr val="FFFFFF"/>
                </a:solidFill>
              </a:rPr>
              <a:t>Friedman p</a:t>
            </a:r>
            <a:endParaRPr lang="en-US" sz="1200" dirty="0"/>
          </a:p>
        </p:txBody>
      </p:sp>
      <p:sp>
        <p:nvSpPr>
          <p:cNvPr id="12" name="Shape 10"/>
          <p:cNvSpPr/>
          <p:nvPr/>
        </p:nvSpPr>
        <p:spPr>
          <a:xfrm>
            <a:off x="332232" y="1828800"/>
            <a:ext cx="8138160" cy="502920"/>
          </a:xfrm>
          <a:prstGeom prst="rect">
            <a:avLst/>
          </a:prstGeom>
          <a:solidFill>
            <a:srgbClr val="F2F4F8"/>
          </a:solidFill>
          <a:ln w="12700">
            <a:solidFill>
              <a:srgbClr val="F2F4F8"/>
            </a:solidFill>
            <a:prstDash val="solid"/>
          </a:ln>
        </p:spPr>
        <p:txBody>
          <a:bodyPr/>
          <a:lstStyle/>
          <a:p>
            <a:endParaRPr lang="es-ES"/>
          </a:p>
        </p:txBody>
      </p:sp>
      <p:sp>
        <p:nvSpPr>
          <p:cNvPr id="13" name="Text 11"/>
          <p:cNvSpPr txBox="1"/>
          <p:nvPr/>
        </p:nvSpPr>
        <p:spPr>
          <a:xfrm>
            <a:off x="332232" y="1901952"/>
            <a:ext cx="2560320" cy="365760"/>
          </a:xfrm>
          <a:prstGeom prst="rect">
            <a:avLst/>
          </a:prstGeom>
          <a:noFill/>
          <a:ln/>
        </p:spPr>
        <p:txBody>
          <a:bodyPr wrap="square" rtlCol="0" anchor="ctr"/>
          <a:lstStyle/>
          <a:p>
            <a:pPr marL="0" indent="0">
              <a:buNone/>
            </a:pPr>
            <a:r>
              <a:rPr lang="en-US" sz="1200" dirty="0">
                <a:solidFill>
                  <a:srgbClr val="1A1A2E"/>
                </a:solidFill>
              </a:rPr>
              <a:t>T1DiabetesGranada</a:t>
            </a:r>
            <a:endParaRPr lang="en-US" sz="1200" dirty="0"/>
          </a:p>
        </p:txBody>
      </p:sp>
      <p:sp>
        <p:nvSpPr>
          <p:cNvPr id="14" name="Text 12"/>
          <p:cNvSpPr txBox="1"/>
          <p:nvPr/>
        </p:nvSpPr>
        <p:spPr>
          <a:xfrm>
            <a:off x="2938272" y="1901952"/>
            <a:ext cx="1828800" cy="365760"/>
          </a:xfrm>
          <a:prstGeom prst="rect">
            <a:avLst/>
          </a:prstGeom>
          <a:noFill/>
          <a:ln/>
        </p:spPr>
        <p:txBody>
          <a:bodyPr wrap="square" rtlCol="0" anchor="ctr"/>
          <a:lstStyle/>
          <a:p>
            <a:pPr marL="0" indent="0">
              <a:buNone/>
            </a:pPr>
            <a:r>
              <a:rPr lang="en-US" sz="1200" dirty="0">
                <a:solidFill>
                  <a:srgbClr val="1A1A2E"/>
                </a:solidFill>
              </a:rPr>
              <a:t>37,80 ± 0,81</a:t>
            </a:r>
            <a:endParaRPr lang="en-US" sz="1200" dirty="0"/>
          </a:p>
        </p:txBody>
      </p:sp>
      <p:sp>
        <p:nvSpPr>
          <p:cNvPr id="15" name="Text 13"/>
          <p:cNvSpPr txBox="1"/>
          <p:nvPr/>
        </p:nvSpPr>
        <p:spPr>
          <a:xfrm>
            <a:off x="4812792" y="1901952"/>
            <a:ext cx="1828800" cy="365760"/>
          </a:xfrm>
          <a:prstGeom prst="rect">
            <a:avLst/>
          </a:prstGeom>
          <a:noFill/>
          <a:ln/>
        </p:spPr>
        <p:txBody>
          <a:bodyPr wrap="square" rtlCol="0" anchor="ctr"/>
          <a:lstStyle/>
          <a:p>
            <a:pPr marL="0" indent="0">
              <a:buNone/>
            </a:pPr>
            <a:r>
              <a:rPr lang="en-US" sz="1200" dirty="0">
                <a:solidFill>
                  <a:srgbClr val="1A1A2E"/>
                </a:solidFill>
              </a:rPr>
              <a:t>37,56 – 38,09</a:t>
            </a:r>
            <a:endParaRPr lang="en-US" sz="1200" dirty="0"/>
          </a:p>
        </p:txBody>
      </p:sp>
      <p:sp>
        <p:nvSpPr>
          <p:cNvPr id="16" name="Text 14"/>
          <p:cNvSpPr txBox="1"/>
          <p:nvPr/>
        </p:nvSpPr>
        <p:spPr>
          <a:xfrm>
            <a:off x="6687312" y="1901952"/>
            <a:ext cx="1097280" cy="365760"/>
          </a:xfrm>
          <a:prstGeom prst="rect">
            <a:avLst/>
          </a:prstGeom>
          <a:noFill/>
          <a:ln/>
        </p:spPr>
        <p:txBody>
          <a:bodyPr wrap="square" rtlCol="0" anchor="ctr"/>
          <a:lstStyle/>
          <a:p>
            <a:pPr marL="0" indent="0">
              <a:buNone/>
            </a:pPr>
            <a:r>
              <a:rPr lang="en-US" sz="1200" dirty="0">
                <a:solidFill>
                  <a:srgbClr val="1A1A2E"/>
                </a:solidFill>
              </a:rPr>
              <a:t>±0,5 mg/dL</a:t>
            </a:r>
            <a:endParaRPr lang="en-US" sz="1200" dirty="0"/>
          </a:p>
        </p:txBody>
      </p:sp>
      <p:sp>
        <p:nvSpPr>
          <p:cNvPr id="17" name="Text 15"/>
          <p:cNvSpPr txBox="1"/>
          <p:nvPr/>
        </p:nvSpPr>
        <p:spPr>
          <a:xfrm>
            <a:off x="7751064" y="1901952"/>
            <a:ext cx="1371600" cy="365760"/>
          </a:xfrm>
          <a:prstGeom prst="rect">
            <a:avLst/>
          </a:prstGeom>
          <a:noFill/>
          <a:ln/>
        </p:spPr>
        <p:txBody>
          <a:bodyPr wrap="square" rtlCol="0" anchor="ctr"/>
          <a:lstStyle/>
          <a:p>
            <a:pPr marL="0" indent="0">
              <a:buNone/>
            </a:pPr>
            <a:r>
              <a:rPr lang="en-US" sz="1200" dirty="0">
                <a:solidFill>
                  <a:srgbClr val="1A1A2E"/>
                </a:solidFill>
              </a:rPr>
              <a:t>p = 0,120 (ns)</a:t>
            </a:r>
            <a:endParaRPr lang="en-US" sz="1200" dirty="0"/>
          </a:p>
        </p:txBody>
      </p:sp>
      <p:sp>
        <p:nvSpPr>
          <p:cNvPr id="18" name="Shape 16"/>
          <p:cNvSpPr/>
          <p:nvPr/>
        </p:nvSpPr>
        <p:spPr>
          <a:xfrm>
            <a:off x="332232" y="2395728"/>
            <a:ext cx="8138160" cy="502920"/>
          </a:xfrm>
          <a:prstGeom prst="rect">
            <a:avLst/>
          </a:prstGeom>
          <a:solidFill>
            <a:srgbClr val="FFFFFF"/>
          </a:solidFill>
          <a:ln w="12700">
            <a:solidFill>
              <a:srgbClr val="FFFFFF"/>
            </a:solidFill>
            <a:prstDash val="solid"/>
          </a:ln>
        </p:spPr>
        <p:txBody>
          <a:bodyPr/>
          <a:lstStyle/>
          <a:p>
            <a:endParaRPr lang="es-ES"/>
          </a:p>
        </p:txBody>
      </p:sp>
      <p:sp>
        <p:nvSpPr>
          <p:cNvPr id="19" name="Shape 17"/>
          <p:cNvSpPr/>
          <p:nvPr/>
        </p:nvSpPr>
        <p:spPr>
          <a:xfrm>
            <a:off x="332232" y="2395728"/>
            <a:ext cx="64008" cy="502920"/>
          </a:xfrm>
          <a:prstGeom prst="rect">
            <a:avLst/>
          </a:prstGeom>
          <a:solidFill>
            <a:srgbClr val="C0392B"/>
          </a:solidFill>
          <a:ln w="12700">
            <a:solidFill>
              <a:srgbClr val="C0392B"/>
            </a:solidFill>
            <a:prstDash val="solid"/>
          </a:ln>
        </p:spPr>
        <p:txBody>
          <a:bodyPr/>
          <a:lstStyle/>
          <a:p>
            <a:endParaRPr lang="es-ES"/>
          </a:p>
        </p:txBody>
      </p:sp>
      <p:sp>
        <p:nvSpPr>
          <p:cNvPr id="20" name="Text 18"/>
          <p:cNvSpPr txBox="1"/>
          <p:nvPr/>
        </p:nvSpPr>
        <p:spPr>
          <a:xfrm>
            <a:off x="332232" y="2468880"/>
            <a:ext cx="2560320" cy="365760"/>
          </a:xfrm>
          <a:prstGeom prst="rect">
            <a:avLst/>
          </a:prstGeom>
          <a:noFill/>
          <a:ln/>
        </p:spPr>
        <p:txBody>
          <a:bodyPr wrap="square" rtlCol="0" anchor="ctr"/>
          <a:lstStyle/>
          <a:p>
            <a:pPr marL="0" indent="0">
              <a:buNone/>
            </a:pPr>
            <a:r>
              <a:rPr lang="en-US" sz="1200" dirty="0">
                <a:solidFill>
                  <a:srgbClr val="1A1A2E"/>
                </a:solidFill>
              </a:rPr>
              <a:t>DiaTrend</a:t>
            </a:r>
            <a:endParaRPr lang="en-US" sz="1200" dirty="0"/>
          </a:p>
        </p:txBody>
      </p:sp>
      <p:sp>
        <p:nvSpPr>
          <p:cNvPr id="21" name="Text 19"/>
          <p:cNvSpPr txBox="1"/>
          <p:nvPr/>
        </p:nvSpPr>
        <p:spPr>
          <a:xfrm>
            <a:off x="2938272" y="2468880"/>
            <a:ext cx="1828800" cy="365760"/>
          </a:xfrm>
          <a:prstGeom prst="rect">
            <a:avLst/>
          </a:prstGeom>
          <a:noFill/>
          <a:ln/>
        </p:spPr>
        <p:txBody>
          <a:bodyPr wrap="square" rtlCol="0" anchor="ctr"/>
          <a:lstStyle/>
          <a:p>
            <a:pPr marL="0" indent="0">
              <a:buNone/>
            </a:pPr>
            <a:r>
              <a:rPr lang="en-US" sz="1200" dirty="0">
                <a:solidFill>
                  <a:srgbClr val="1A1A2E"/>
                </a:solidFill>
              </a:rPr>
              <a:t>45,05 ± 2,45</a:t>
            </a:r>
            <a:endParaRPr lang="en-US" sz="1200" dirty="0"/>
          </a:p>
        </p:txBody>
      </p:sp>
      <p:sp>
        <p:nvSpPr>
          <p:cNvPr id="22" name="Text 20"/>
          <p:cNvSpPr txBox="1"/>
          <p:nvPr/>
        </p:nvSpPr>
        <p:spPr>
          <a:xfrm>
            <a:off x="4812792" y="2468880"/>
            <a:ext cx="1828800" cy="365760"/>
          </a:xfrm>
          <a:prstGeom prst="rect">
            <a:avLst/>
          </a:prstGeom>
          <a:noFill/>
          <a:ln/>
        </p:spPr>
        <p:txBody>
          <a:bodyPr wrap="square" rtlCol="0" anchor="ctr"/>
          <a:lstStyle/>
          <a:p>
            <a:pPr marL="0" indent="0">
              <a:buNone/>
            </a:pPr>
            <a:r>
              <a:rPr lang="en-US" sz="1200" dirty="0">
                <a:solidFill>
                  <a:srgbClr val="1A1A2E"/>
                </a:solidFill>
              </a:rPr>
              <a:t>44,83 – 48,22</a:t>
            </a:r>
            <a:endParaRPr lang="en-US" sz="1200" dirty="0"/>
          </a:p>
        </p:txBody>
      </p:sp>
      <p:sp>
        <p:nvSpPr>
          <p:cNvPr id="23" name="Text 21"/>
          <p:cNvSpPr txBox="1"/>
          <p:nvPr/>
        </p:nvSpPr>
        <p:spPr>
          <a:xfrm>
            <a:off x="6687312" y="2468880"/>
            <a:ext cx="1097280" cy="365760"/>
          </a:xfrm>
          <a:prstGeom prst="rect">
            <a:avLst/>
          </a:prstGeom>
          <a:noFill/>
          <a:ln/>
        </p:spPr>
        <p:txBody>
          <a:bodyPr wrap="square" rtlCol="0" anchor="ctr"/>
          <a:lstStyle/>
          <a:p>
            <a:pPr marL="0" indent="0">
              <a:buNone/>
            </a:pPr>
            <a:r>
              <a:rPr lang="en-US" sz="1200" dirty="0">
                <a:solidFill>
                  <a:srgbClr val="1A1A2E"/>
                </a:solidFill>
              </a:rPr>
              <a:t>±3,4 mg/dL</a:t>
            </a:r>
            <a:endParaRPr lang="en-US" sz="1200" dirty="0"/>
          </a:p>
        </p:txBody>
      </p:sp>
      <p:sp>
        <p:nvSpPr>
          <p:cNvPr id="24" name="Text 22"/>
          <p:cNvSpPr txBox="1"/>
          <p:nvPr/>
        </p:nvSpPr>
        <p:spPr>
          <a:xfrm>
            <a:off x="7751064" y="2468880"/>
            <a:ext cx="1371600" cy="365760"/>
          </a:xfrm>
          <a:prstGeom prst="rect">
            <a:avLst/>
          </a:prstGeom>
          <a:noFill/>
          <a:ln/>
        </p:spPr>
        <p:txBody>
          <a:bodyPr wrap="square" rtlCol="0" anchor="ctr"/>
          <a:lstStyle/>
          <a:p>
            <a:pPr marL="0" indent="0">
              <a:buNone/>
            </a:pPr>
            <a:r>
              <a:rPr lang="en-US" sz="1200" b="1" dirty="0">
                <a:solidFill>
                  <a:srgbClr val="C0392B"/>
                </a:solidFill>
              </a:rPr>
              <a:t>p &lt; 0,0001 ★</a:t>
            </a:r>
            <a:endParaRPr lang="en-US" sz="1200" dirty="0"/>
          </a:p>
        </p:txBody>
      </p:sp>
      <p:sp>
        <p:nvSpPr>
          <p:cNvPr id="25" name="Shape 23"/>
          <p:cNvSpPr/>
          <p:nvPr/>
        </p:nvSpPr>
        <p:spPr>
          <a:xfrm>
            <a:off x="332232" y="2962656"/>
            <a:ext cx="8138160" cy="502920"/>
          </a:xfrm>
          <a:prstGeom prst="rect">
            <a:avLst/>
          </a:prstGeom>
          <a:solidFill>
            <a:srgbClr val="F2F4F8"/>
          </a:solidFill>
          <a:ln w="12700">
            <a:solidFill>
              <a:srgbClr val="F2F4F8"/>
            </a:solidFill>
            <a:prstDash val="solid"/>
          </a:ln>
        </p:spPr>
        <p:txBody>
          <a:bodyPr/>
          <a:lstStyle/>
          <a:p>
            <a:endParaRPr lang="es-ES"/>
          </a:p>
        </p:txBody>
      </p:sp>
      <p:sp>
        <p:nvSpPr>
          <p:cNvPr id="26" name="Text 24"/>
          <p:cNvSpPr txBox="1"/>
          <p:nvPr/>
        </p:nvSpPr>
        <p:spPr>
          <a:xfrm>
            <a:off x="332232" y="3035808"/>
            <a:ext cx="2560320" cy="365760"/>
          </a:xfrm>
          <a:prstGeom prst="rect">
            <a:avLst/>
          </a:prstGeom>
          <a:noFill/>
          <a:ln/>
        </p:spPr>
        <p:txBody>
          <a:bodyPr wrap="square" rtlCol="0" anchor="ctr"/>
          <a:lstStyle/>
          <a:p>
            <a:pPr marL="0" indent="0">
              <a:buNone/>
            </a:pPr>
            <a:r>
              <a:rPr lang="en-US" sz="1200" dirty="0">
                <a:solidFill>
                  <a:srgbClr val="1A1A2E"/>
                </a:solidFill>
              </a:rPr>
              <a:t>REPLACE-BG</a:t>
            </a:r>
            <a:endParaRPr lang="en-US" sz="1200" dirty="0"/>
          </a:p>
        </p:txBody>
      </p:sp>
      <p:sp>
        <p:nvSpPr>
          <p:cNvPr id="27" name="Text 25"/>
          <p:cNvSpPr txBox="1"/>
          <p:nvPr/>
        </p:nvSpPr>
        <p:spPr>
          <a:xfrm>
            <a:off x="2938272" y="3035808"/>
            <a:ext cx="1828800" cy="365760"/>
          </a:xfrm>
          <a:prstGeom prst="rect">
            <a:avLst/>
          </a:prstGeom>
          <a:noFill/>
          <a:ln/>
        </p:spPr>
        <p:txBody>
          <a:bodyPr wrap="square" rtlCol="0" anchor="ctr"/>
          <a:lstStyle/>
          <a:p>
            <a:pPr marL="0" indent="0">
              <a:buNone/>
            </a:pPr>
            <a:r>
              <a:rPr lang="en-US" sz="1200" dirty="0">
                <a:solidFill>
                  <a:srgbClr val="1A1A2E"/>
                </a:solidFill>
              </a:rPr>
              <a:t>37,00 ± 0,83</a:t>
            </a:r>
            <a:endParaRPr lang="en-US" sz="1200" dirty="0"/>
          </a:p>
        </p:txBody>
      </p:sp>
      <p:sp>
        <p:nvSpPr>
          <p:cNvPr id="28" name="Text 26"/>
          <p:cNvSpPr txBox="1"/>
          <p:nvPr/>
        </p:nvSpPr>
        <p:spPr>
          <a:xfrm>
            <a:off x="4812792" y="3035808"/>
            <a:ext cx="1828800" cy="365760"/>
          </a:xfrm>
          <a:prstGeom prst="rect">
            <a:avLst/>
          </a:prstGeom>
          <a:noFill/>
          <a:ln/>
        </p:spPr>
        <p:txBody>
          <a:bodyPr wrap="square" rtlCol="0" anchor="ctr"/>
          <a:lstStyle/>
          <a:p>
            <a:pPr marL="0" indent="0">
              <a:buNone/>
            </a:pPr>
            <a:r>
              <a:rPr lang="en-US" sz="1200" dirty="0">
                <a:solidFill>
                  <a:srgbClr val="1A1A2E"/>
                </a:solidFill>
              </a:rPr>
              <a:t>36,81 – 37,25</a:t>
            </a:r>
            <a:endParaRPr lang="en-US" sz="1200" dirty="0"/>
          </a:p>
        </p:txBody>
      </p:sp>
      <p:sp>
        <p:nvSpPr>
          <p:cNvPr id="29" name="Text 27"/>
          <p:cNvSpPr txBox="1"/>
          <p:nvPr/>
        </p:nvSpPr>
        <p:spPr>
          <a:xfrm>
            <a:off x="6687312" y="3035808"/>
            <a:ext cx="1097280" cy="365760"/>
          </a:xfrm>
          <a:prstGeom prst="rect">
            <a:avLst/>
          </a:prstGeom>
          <a:noFill/>
          <a:ln/>
        </p:spPr>
        <p:txBody>
          <a:bodyPr wrap="square" rtlCol="0" anchor="ctr"/>
          <a:lstStyle/>
          <a:p>
            <a:pPr marL="0" indent="0">
              <a:buNone/>
            </a:pPr>
            <a:r>
              <a:rPr lang="en-US" sz="1200" dirty="0">
                <a:solidFill>
                  <a:srgbClr val="1A1A2E"/>
                </a:solidFill>
              </a:rPr>
              <a:t>±0,4 mg/dL</a:t>
            </a:r>
            <a:endParaRPr lang="en-US" sz="1200" dirty="0"/>
          </a:p>
        </p:txBody>
      </p:sp>
      <p:sp>
        <p:nvSpPr>
          <p:cNvPr id="30" name="Text 28"/>
          <p:cNvSpPr txBox="1"/>
          <p:nvPr/>
        </p:nvSpPr>
        <p:spPr>
          <a:xfrm>
            <a:off x="7751064" y="3035808"/>
            <a:ext cx="1371600" cy="365760"/>
          </a:xfrm>
          <a:prstGeom prst="rect">
            <a:avLst/>
          </a:prstGeom>
          <a:noFill/>
          <a:ln/>
        </p:spPr>
        <p:txBody>
          <a:bodyPr wrap="square" rtlCol="0" anchor="ctr"/>
          <a:lstStyle/>
          <a:p>
            <a:pPr marL="0" indent="0">
              <a:buNone/>
            </a:pPr>
            <a:r>
              <a:rPr lang="en-US" sz="1200" dirty="0">
                <a:solidFill>
                  <a:srgbClr val="1A1A2E"/>
                </a:solidFill>
              </a:rPr>
              <a:t>p = 0,140 (ns)</a:t>
            </a:r>
            <a:endParaRPr lang="en-US" sz="1200" dirty="0"/>
          </a:p>
        </p:txBody>
      </p:sp>
      <p:sp>
        <p:nvSpPr>
          <p:cNvPr id="31" name="Shape 29"/>
          <p:cNvSpPr/>
          <p:nvPr/>
        </p:nvSpPr>
        <p:spPr>
          <a:xfrm>
            <a:off x="332232" y="3523488"/>
            <a:ext cx="8138160" cy="1371600"/>
          </a:xfrm>
          <a:prstGeom prst="rect">
            <a:avLst/>
          </a:prstGeom>
          <a:solidFill>
            <a:srgbClr val="EBF5FB"/>
          </a:solidFill>
          <a:ln w="12700">
            <a:solidFill>
              <a:srgbClr val="EBF5FB"/>
            </a:solidFill>
            <a:prstDash val="solid"/>
          </a:ln>
        </p:spPr>
        <p:txBody>
          <a:bodyPr/>
          <a:lstStyle/>
          <a:p>
            <a:endParaRPr lang="es-ES"/>
          </a:p>
        </p:txBody>
      </p:sp>
      <p:sp>
        <p:nvSpPr>
          <p:cNvPr id="32" name="Shape 30"/>
          <p:cNvSpPr/>
          <p:nvPr/>
        </p:nvSpPr>
        <p:spPr>
          <a:xfrm>
            <a:off x="332232" y="3523488"/>
            <a:ext cx="64008" cy="1371600"/>
          </a:xfrm>
          <a:prstGeom prst="rect">
            <a:avLst/>
          </a:prstGeom>
          <a:solidFill>
            <a:srgbClr val="1B4F72"/>
          </a:solidFill>
          <a:ln w="12700">
            <a:solidFill>
              <a:srgbClr val="1B4F72"/>
            </a:solidFill>
            <a:prstDash val="solid"/>
          </a:ln>
        </p:spPr>
        <p:txBody>
          <a:bodyPr/>
          <a:lstStyle/>
          <a:p>
            <a:endParaRPr lang="es-ES"/>
          </a:p>
        </p:txBody>
      </p:sp>
      <p:sp>
        <p:nvSpPr>
          <p:cNvPr id="33" name="Text 31"/>
          <p:cNvSpPr txBox="1"/>
          <p:nvPr/>
        </p:nvSpPr>
        <p:spPr>
          <a:xfrm>
            <a:off x="469392" y="3550920"/>
            <a:ext cx="3200400" cy="256032"/>
          </a:xfrm>
          <a:prstGeom prst="rect">
            <a:avLst/>
          </a:prstGeom>
          <a:noFill/>
          <a:ln/>
        </p:spPr>
        <p:txBody>
          <a:bodyPr wrap="square" rtlCol="0" anchor="ctr"/>
          <a:lstStyle/>
          <a:p>
            <a:pPr marL="0" indent="0">
              <a:buNone/>
            </a:pPr>
            <a:r>
              <a:rPr lang="en-US" sz="1400" b="1" dirty="0">
                <a:solidFill>
                  <a:srgbClr val="1B4F72"/>
                </a:solidFill>
              </a:rPr>
              <a:t>Interpretación</a:t>
            </a:r>
            <a:endParaRPr lang="en-US" sz="1400" dirty="0"/>
          </a:p>
        </p:txBody>
      </p:sp>
      <p:sp>
        <p:nvSpPr>
          <p:cNvPr id="34" name="Text 32"/>
          <p:cNvSpPr txBox="1"/>
          <p:nvPr/>
        </p:nvSpPr>
        <p:spPr>
          <a:xfrm>
            <a:off x="469392" y="3843528"/>
            <a:ext cx="7909560" cy="1005840"/>
          </a:xfrm>
          <a:prstGeom prst="rect">
            <a:avLst/>
          </a:prstGeom>
          <a:noFill/>
          <a:ln/>
        </p:spPr>
        <p:txBody>
          <a:bodyPr wrap="square" rtlCol="0" anchor="ctr"/>
          <a:lstStyle/>
          <a:p>
            <a:pPr marL="0" indent="0">
              <a:buNone/>
            </a:pPr>
            <a:r>
              <a:rPr lang="en-US" sz="1400" dirty="0">
                <a:solidFill>
                  <a:srgbClr val="1A1A2E"/>
                </a:solidFill>
              </a:rPr>
              <a:t>En T1DiabetesGranada y REPLACE-BG, las fluctuaciones de RMSE entre técnicas son atribuibles a varianza aleatoria, no al balanceo. La inmunidad del LSTM a perturbaciones masivas (SMOTE, Jittering) demuestra una robustez representacional notable. Solo en DiaTrend — el dataset con desequilibrio extremo (38:1) — el balanceo produce efectos estadísticamente significativos.</a:t>
            </a:r>
            <a:endParaRPr lang="en-US" sz="1400" dirty="0"/>
          </a:p>
        </p:txBody>
      </p:sp>
      <p:sp>
        <p:nvSpPr>
          <p:cNvPr id="35" name="Rectángulo 34">
            <a:extLst>
              <a:ext uri="{FF2B5EF4-FFF2-40B4-BE49-F238E27FC236}">
                <a16:creationId xmlns:a16="http://schemas.microsoft.com/office/drawing/2014/main" id="{D38B337E-B676-AC33-EB09-CC4146716689}"/>
              </a:ext>
            </a:extLst>
          </p:cNvPr>
          <p:cNvSpPr/>
          <p:nvPr/>
        </p:nvSpPr>
        <p:spPr>
          <a:xfrm>
            <a:off x="332232" y="1801368"/>
            <a:ext cx="8503920" cy="169468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012845E7-E716-5727-4365-215733677693}"/>
              </a:ext>
            </a:extLst>
          </p:cNvPr>
          <p:cNvSpPr/>
          <p:nvPr/>
        </p:nvSpPr>
        <p:spPr>
          <a:xfrm>
            <a:off x="396240" y="3523488"/>
            <a:ext cx="8439912" cy="1371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8" name="Conector recto 37">
            <a:extLst>
              <a:ext uri="{FF2B5EF4-FFF2-40B4-BE49-F238E27FC236}">
                <a16:creationId xmlns:a16="http://schemas.microsoft.com/office/drawing/2014/main" id="{C9DBC6CD-B89E-B8F2-9C3D-10C74F65A5B6}"/>
              </a:ext>
            </a:extLst>
          </p:cNvPr>
          <p:cNvCxnSpPr/>
          <p:nvPr/>
        </p:nvCxnSpPr>
        <p:spPr>
          <a:xfrm>
            <a:off x="332232" y="2395728"/>
            <a:ext cx="8503920"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919C0860-6D50-D087-4D4F-CF4A157068A1}"/>
              </a:ext>
            </a:extLst>
          </p:cNvPr>
          <p:cNvCxnSpPr/>
          <p:nvPr/>
        </p:nvCxnSpPr>
        <p:spPr>
          <a:xfrm>
            <a:off x="332232" y="2901696"/>
            <a:ext cx="8503920"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Shape 1">
            <a:extLst>
              <a:ext uri="{FF2B5EF4-FFF2-40B4-BE49-F238E27FC236}">
                <a16:creationId xmlns:a16="http://schemas.microsoft.com/office/drawing/2014/main" id="{462C1E63-8F70-6231-3EE0-E8D5E250E659}"/>
              </a:ext>
            </a:extLst>
          </p:cNvPr>
          <p:cNvSpPr/>
          <p:nvPr/>
        </p:nvSpPr>
        <p:spPr>
          <a:xfrm>
            <a:off x="502920" y="5070348"/>
            <a:ext cx="8138160" cy="27432"/>
          </a:xfrm>
          <a:prstGeom prst="rect">
            <a:avLst/>
          </a:prstGeom>
          <a:solidFill>
            <a:srgbClr val="BDC3C7"/>
          </a:solidFill>
          <a:ln w="12700">
            <a:solidFill>
              <a:srgbClr val="BDC3C7"/>
            </a:solidFill>
            <a:prstDash val="solid"/>
          </a:ln>
        </p:spPr>
        <p:txBody>
          <a:bodyPr/>
          <a:lstStyle/>
          <a:p>
            <a:endParaRPr lang="es-E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01168"/>
            <a:ext cx="8138160" cy="566928"/>
          </a:xfrm>
          <a:prstGeom prst="rect">
            <a:avLst/>
          </a:prstGeom>
          <a:noFill/>
          <a:ln/>
        </p:spPr>
        <p:txBody>
          <a:bodyPr wrap="square" rtlCol="0" anchor="ctr"/>
          <a:lstStyle/>
          <a:p>
            <a:pPr marL="0" indent="0">
              <a:buNone/>
            </a:pPr>
            <a:r>
              <a:rPr lang="en-US" sz="2800" b="1" dirty="0">
                <a:solidFill>
                  <a:srgbClr val="1A1A2E"/>
                </a:solidFill>
              </a:rPr>
              <a:t>Ninguna técnica gana en todo: el trade-off ENTIRE vs. TBR-2</a:t>
            </a:r>
            <a:endParaRPr lang="en-US" sz="2800" dirty="0"/>
          </a:p>
        </p:txBody>
      </p:sp>
      <p:sp>
        <p:nvSpPr>
          <p:cNvPr id="3" name="Shape 1"/>
          <p:cNvSpPr/>
          <p:nvPr/>
        </p:nvSpPr>
        <p:spPr>
          <a:xfrm>
            <a:off x="502920" y="5070348"/>
            <a:ext cx="8138160" cy="27432"/>
          </a:xfrm>
          <a:prstGeom prst="rect">
            <a:avLst/>
          </a:prstGeom>
          <a:solidFill>
            <a:srgbClr val="BDC3C7"/>
          </a:solidFill>
          <a:ln w="12700">
            <a:solidFill>
              <a:srgbClr val="BDC3C7"/>
            </a:solidFill>
            <a:prstDash val="solid"/>
          </a:ln>
        </p:spPr>
        <p:txBody>
          <a:bodyPr/>
          <a:lstStyle/>
          <a:p>
            <a:endParaRPr lang="es-ES"/>
          </a:p>
        </p:txBody>
      </p:sp>
      <p:sp>
        <p:nvSpPr>
          <p:cNvPr id="4" name="Text 2"/>
          <p:cNvSpPr txBox="1"/>
          <p:nvPr/>
        </p:nvSpPr>
        <p:spPr>
          <a:xfrm>
            <a:off x="8229600" y="4869180"/>
            <a:ext cx="777240" cy="201168"/>
          </a:xfrm>
          <a:prstGeom prst="rect">
            <a:avLst/>
          </a:prstGeom>
          <a:noFill/>
          <a:ln/>
        </p:spPr>
        <p:txBody>
          <a:bodyPr wrap="square" rtlCol="0" anchor="ctr"/>
          <a:lstStyle/>
          <a:p>
            <a:pPr marL="0" indent="0" algn="r">
              <a:buNone/>
            </a:pPr>
            <a:r>
              <a:rPr lang="en-US" sz="1200" dirty="0">
                <a:solidFill>
                  <a:srgbClr val="7F8C8D"/>
                </a:solidFill>
              </a:rPr>
              <a:t>8 / 12</a:t>
            </a:r>
            <a:endParaRPr lang="en-US" sz="1200" dirty="0"/>
          </a:p>
        </p:txBody>
      </p:sp>
      <p:sp>
        <p:nvSpPr>
          <p:cNvPr id="5" name="Text 3"/>
          <p:cNvSpPr txBox="1"/>
          <p:nvPr/>
        </p:nvSpPr>
        <p:spPr>
          <a:xfrm>
            <a:off x="502920" y="1188720"/>
            <a:ext cx="8138160" cy="256032"/>
          </a:xfrm>
          <a:prstGeom prst="rect">
            <a:avLst/>
          </a:prstGeom>
          <a:noFill/>
          <a:ln/>
        </p:spPr>
        <p:txBody>
          <a:bodyPr wrap="square" rtlCol="0" anchor="ctr"/>
          <a:lstStyle/>
          <a:p>
            <a:pPr marL="0" indent="0">
              <a:buNone/>
            </a:pPr>
            <a:r>
              <a:rPr lang="en-US" sz="1400" i="1" dirty="0">
                <a:solidFill>
                  <a:srgbClr val="1A1A2E"/>
                </a:solidFill>
              </a:rPr>
              <a:t>DiaTrend (el único dataset donde el balanceo tiene efecto)</a:t>
            </a:r>
            <a:endParaRPr lang="en-US" sz="1400" dirty="0"/>
          </a:p>
        </p:txBody>
      </p:sp>
      <p:sp>
        <p:nvSpPr>
          <p:cNvPr id="27" name="Text 25"/>
          <p:cNvSpPr txBox="1"/>
          <p:nvPr/>
        </p:nvSpPr>
        <p:spPr>
          <a:xfrm>
            <a:off x="6629400" y="1600200"/>
            <a:ext cx="2103120" cy="256032"/>
          </a:xfrm>
          <a:prstGeom prst="rect">
            <a:avLst/>
          </a:prstGeom>
          <a:noFill/>
          <a:ln/>
        </p:spPr>
        <p:txBody>
          <a:bodyPr wrap="square" rtlCol="0" anchor="ctr"/>
          <a:lstStyle/>
          <a:p>
            <a:pPr marL="0" indent="0">
              <a:buNone/>
            </a:pPr>
            <a:r>
              <a:rPr lang="en-US" sz="1400" b="1" dirty="0">
                <a:solidFill>
                  <a:srgbClr val="1A1A2E"/>
                </a:solidFill>
              </a:rPr>
              <a:t>Trade-off estructural</a:t>
            </a:r>
            <a:endParaRPr lang="en-US" sz="1400" dirty="0"/>
          </a:p>
        </p:txBody>
      </p:sp>
      <p:sp>
        <p:nvSpPr>
          <p:cNvPr id="28" name="Shape 26"/>
          <p:cNvSpPr/>
          <p:nvPr/>
        </p:nvSpPr>
        <p:spPr>
          <a:xfrm>
            <a:off x="6629400" y="1920240"/>
            <a:ext cx="2103120" cy="530352"/>
          </a:xfrm>
          <a:prstGeom prst="rect">
            <a:avLst/>
          </a:prstGeom>
          <a:solidFill>
            <a:srgbClr val="F2F4F8"/>
          </a:solidFill>
          <a:ln w="12700">
            <a:solidFill>
              <a:srgbClr val="F2F4F8"/>
            </a:solidFill>
            <a:prstDash val="solid"/>
          </a:ln>
        </p:spPr>
        <p:txBody>
          <a:bodyPr/>
          <a:lstStyle/>
          <a:p>
            <a:endParaRPr lang="es-ES"/>
          </a:p>
        </p:txBody>
      </p:sp>
      <p:sp>
        <p:nvSpPr>
          <p:cNvPr id="37" name="Text 35"/>
          <p:cNvSpPr txBox="1"/>
          <p:nvPr/>
        </p:nvSpPr>
        <p:spPr>
          <a:xfrm>
            <a:off x="6537960" y="1959102"/>
            <a:ext cx="2103120" cy="1504188"/>
          </a:xfrm>
          <a:prstGeom prst="rect">
            <a:avLst/>
          </a:prstGeom>
          <a:noFill/>
          <a:ln/>
        </p:spPr>
        <p:txBody>
          <a:bodyPr wrap="square" rtlCol="0" anchor="ctr"/>
          <a:lstStyle/>
          <a:p>
            <a:r>
              <a:rPr lang="es-ES" sz="1200" i="1" dirty="0">
                <a:solidFill>
                  <a:schemeClr val="bg2">
                    <a:lumMod val="50000"/>
                  </a:schemeClr>
                </a:solidFill>
              </a:rPr>
              <a:t>En </a:t>
            </a:r>
            <a:r>
              <a:rPr lang="es-ES" sz="1200" i="1" dirty="0" err="1">
                <a:solidFill>
                  <a:schemeClr val="bg2">
                    <a:lumMod val="50000"/>
                  </a:schemeClr>
                </a:solidFill>
              </a:rPr>
              <a:t>DiaTrend</a:t>
            </a:r>
            <a:r>
              <a:rPr lang="es-ES" sz="1200" i="1" dirty="0">
                <a:solidFill>
                  <a:schemeClr val="bg2">
                    <a:lumMod val="50000"/>
                  </a:schemeClr>
                </a:solidFill>
              </a:rPr>
              <a:t>, todas las técnicas que modifican la representación de TBR-2 en el </a:t>
            </a:r>
            <a:r>
              <a:rPr lang="es-ES" sz="1200" i="1" dirty="0" err="1">
                <a:solidFill>
                  <a:schemeClr val="bg2">
                    <a:lumMod val="50000"/>
                  </a:schemeClr>
                </a:solidFill>
              </a:rPr>
              <a:t>train</a:t>
            </a:r>
            <a:r>
              <a:rPr lang="es-ES" sz="1200" i="1" dirty="0">
                <a:solidFill>
                  <a:schemeClr val="bg2">
                    <a:lumMod val="50000"/>
                  </a:schemeClr>
                </a:solidFill>
              </a:rPr>
              <a:t> lo hacen a costa de TIR, o viceversa.</a:t>
            </a:r>
          </a:p>
          <a:p>
            <a:endParaRPr lang="es-ES" sz="1200" i="1" dirty="0">
              <a:solidFill>
                <a:schemeClr val="bg2">
                  <a:lumMod val="50000"/>
                </a:schemeClr>
              </a:solidFill>
            </a:endParaRPr>
          </a:p>
          <a:p>
            <a:r>
              <a:rPr lang="es-ES" sz="1200" i="1" dirty="0">
                <a:solidFill>
                  <a:schemeClr val="bg2">
                    <a:lumMod val="50000"/>
                  </a:schemeClr>
                </a:solidFill>
              </a:rPr>
              <a:t> </a:t>
            </a:r>
            <a:r>
              <a:rPr lang="es-ES" sz="1200" b="1" i="1" dirty="0">
                <a:solidFill>
                  <a:schemeClr val="bg2">
                    <a:lumMod val="50000"/>
                  </a:schemeClr>
                </a:solidFill>
              </a:rPr>
              <a:t>Tomek Links </a:t>
            </a:r>
            <a:r>
              <a:rPr lang="es-ES" sz="1200" i="1" dirty="0">
                <a:solidFill>
                  <a:schemeClr val="bg2">
                    <a:lumMod val="50000"/>
                  </a:schemeClr>
                </a:solidFill>
              </a:rPr>
              <a:t>es la única que no desplaza la distribución glucémica del entrenamiento.</a:t>
            </a:r>
          </a:p>
        </p:txBody>
      </p:sp>
      <p:pic>
        <p:nvPicPr>
          <p:cNvPr id="41" name="Imagen 40">
            <a:extLst>
              <a:ext uri="{FF2B5EF4-FFF2-40B4-BE49-F238E27FC236}">
                <a16:creationId xmlns:a16="http://schemas.microsoft.com/office/drawing/2014/main" id="{31EF9E53-091F-940D-9896-0F819CE64B92}"/>
              </a:ext>
            </a:extLst>
          </p:cNvPr>
          <p:cNvPicPr>
            <a:picLocks noChangeAspect="1"/>
          </p:cNvPicPr>
          <p:nvPr/>
        </p:nvPicPr>
        <p:blipFill>
          <a:blip r:embed="rId3"/>
          <a:stretch>
            <a:fillRect/>
          </a:stretch>
        </p:blipFill>
        <p:spPr>
          <a:xfrm>
            <a:off x="979926" y="1554480"/>
            <a:ext cx="4908810" cy="3309912"/>
          </a:xfrm>
          <a:prstGeom prst="rect">
            <a:avLst/>
          </a:prstGeom>
        </p:spPr>
      </p:pic>
      <p:pic>
        <p:nvPicPr>
          <p:cNvPr id="43" name="Imagen 42">
            <a:extLst>
              <a:ext uri="{FF2B5EF4-FFF2-40B4-BE49-F238E27FC236}">
                <a16:creationId xmlns:a16="http://schemas.microsoft.com/office/drawing/2014/main" id="{A309CD81-B0EE-46E0-D69E-08AA9D694957}"/>
              </a:ext>
            </a:extLst>
          </p:cNvPr>
          <p:cNvPicPr>
            <a:picLocks noChangeAspect="1"/>
          </p:cNvPicPr>
          <p:nvPr/>
        </p:nvPicPr>
        <p:blipFill>
          <a:blip r:embed="rId4"/>
          <a:stretch>
            <a:fillRect/>
          </a:stretch>
        </p:blipFill>
        <p:spPr>
          <a:xfrm>
            <a:off x="1616556" y="2359152"/>
            <a:ext cx="134134" cy="13030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01168"/>
            <a:ext cx="8138160" cy="566928"/>
          </a:xfrm>
          <a:prstGeom prst="rect">
            <a:avLst/>
          </a:prstGeom>
          <a:noFill/>
          <a:ln/>
        </p:spPr>
        <p:txBody>
          <a:bodyPr wrap="square" rtlCol="0" anchor="ctr"/>
          <a:lstStyle/>
          <a:p>
            <a:pPr marL="0" indent="0">
              <a:buNone/>
            </a:pPr>
            <a:r>
              <a:rPr lang="en-US" sz="2800" b="1" dirty="0">
                <a:solidFill>
                  <a:srgbClr val="1A1A2E"/>
                </a:solidFill>
              </a:rPr>
              <a:t>Significación estadística: solo DiaTrend supera el umbral</a:t>
            </a:r>
            <a:endParaRPr lang="en-US" sz="2800" dirty="0"/>
          </a:p>
        </p:txBody>
      </p:sp>
      <p:sp>
        <p:nvSpPr>
          <p:cNvPr id="3" name="Shape 1"/>
          <p:cNvSpPr/>
          <p:nvPr/>
        </p:nvSpPr>
        <p:spPr>
          <a:xfrm>
            <a:off x="502920" y="5070347"/>
            <a:ext cx="7525512" cy="45719"/>
          </a:xfrm>
          <a:prstGeom prst="rect">
            <a:avLst/>
          </a:prstGeom>
          <a:solidFill>
            <a:srgbClr val="BDC3C7"/>
          </a:solidFill>
          <a:ln w="12700">
            <a:solidFill>
              <a:srgbClr val="BDC3C7"/>
            </a:solidFill>
            <a:prstDash val="solid"/>
          </a:ln>
        </p:spPr>
        <p:txBody>
          <a:bodyPr/>
          <a:lstStyle/>
          <a:p>
            <a:endParaRPr lang="es-ES" sz="1200"/>
          </a:p>
        </p:txBody>
      </p:sp>
      <p:sp>
        <p:nvSpPr>
          <p:cNvPr id="4" name="Text 2"/>
          <p:cNvSpPr txBox="1"/>
          <p:nvPr/>
        </p:nvSpPr>
        <p:spPr>
          <a:xfrm>
            <a:off x="8229600" y="4869180"/>
            <a:ext cx="777240" cy="201168"/>
          </a:xfrm>
          <a:prstGeom prst="rect">
            <a:avLst/>
          </a:prstGeom>
          <a:noFill/>
          <a:ln/>
        </p:spPr>
        <p:txBody>
          <a:bodyPr wrap="square" rtlCol="0" anchor="ctr"/>
          <a:lstStyle/>
          <a:p>
            <a:pPr marL="0" indent="0" algn="r">
              <a:buNone/>
            </a:pPr>
            <a:r>
              <a:rPr lang="en-US" sz="1200" dirty="0">
                <a:solidFill>
                  <a:srgbClr val="7F8C8D"/>
                </a:solidFill>
              </a:rPr>
              <a:t>9 / 12</a:t>
            </a:r>
            <a:endParaRPr lang="en-US" sz="1200" dirty="0"/>
          </a:p>
        </p:txBody>
      </p:sp>
      <p:sp>
        <p:nvSpPr>
          <p:cNvPr id="5" name="Text 3"/>
          <p:cNvSpPr txBox="1"/>
          <p:nvPr/>
        </p:nvSpPr>
        <p:spPr>
          <a:xfrm>
            <a:off x="502920" y="1542731"/>
            <a:ext cx="5486400" cy="256032"/>
          </a:xfrm>
          <a:prstGeom prst="rect">
            <a:avLst/>
          </a:prstGeom>
          <a:noFill/>
          <a:ln/>
        </p:spPr>
        <p:txBody>
          <a:bodyPr wrap="square" rtlCol="0" anchor="ctr"/>
          <a:lstStyle/>
          <a:p>
            <a:pPr marL="0" indent="0">
              <a:buNone/>
            </a:pPr>
            <a:r>
              <a:rPr lang="en-US" sz="1050" b="1" dirty="0">
                <a:solidFill>
                  <a:srgbClr val="1A1A2E"/>
                </a:solidFill>
              </a:rPr>
              <a:t>Test de Friedman (k=21 condiciones, n=5 folds)</a:t>
            </a:r>
            <a:endParaRPr lang="en-US" sz="1050" dirty="0"/>
          </a:p>
        </p:txBody>
      </p:sp>
      <p:sp>
        <p:nvSpPr>
          <p:cNvPr id="6" name="Shape 4"/>
          <p:cNvSpPr/>
          <p:nvPr/>
        </p:nvSpPr>
        <p:spPr>
          <a:xfrm>
            <a:off x="502920" y="1796147"/>
            <a:ext cx="8138160" cy="475488"/>
          </a:xfrm>
          <a:prstGeom prst="rect">
            <a:avLst/>
          </a:prstGeom>
          <a:solidFill>
            <a:srgbClr val="F2F4F8"/>
          </a:solidFill>
          <a:ln w="12700">
            <a:solidFill>
              <a:srgbClr val="F2F4F8"/>
            </a:solidFill>
            <a:prstDash val="solid"/>
          </a:ln>
        </p:spPr>
        <p:txBody>
          <a:bodyPr/>
          <a:lstStyle/>
          <a:p>
            <a:endParaRPr lang="es-ES" sz="1200"/>
          </a:p>
        </p:txBody>
      </p:sp>
      <p:sp>
        <p:nvSpPr>
          <p:cNvPr id="7" name="Text 5"/>
          <p:cNvSpPr txBox="1"/>
          <p:nvPr/>
        </p:nvSpPr>
        <p:spPr>
          <a:xfrm>
            <a:off x="630936" y="1954211"/>
            <a:ext cx="1371600" cy="329184"/>
          </a:xfrm>
          <a:prstGeom prst="rect">
            <a:avLst/>
          </a:prstGeom>
          <a:noFill/>
          <a:ln/>
        </p:spPr>
        <p:txBody>
          <a:bodyPr wrap="square" rtlCol="0" anchor="ctr"/>
          <a:lstStyle/>
          <a:p>
            <a:pPr marL="0" indent="0">
              <a:buNone/>
            </a:pPr>
            <a:r>
              <a:rPr lang="en-US" sz="1000" b="1" dirty="0">
                <a:solidFill>
                  <a:srgbClr val="1A1A2E"/>
                </a:solidFill>
              </a:rPr>
              <a:t>T1DiabetesGranada</a:t>
            </a:r>
            <a:endParaRPr lang="en-US" sz="1000" dirty="0"/>
          </a:p>
        </p:txBody>
      </p:sp>
      <p:sp>
        <p:nvSpPr>
          <p:cNvPr id="8" name="Text 6"/>
          <p:cNvSpPr txBox="1"/>
          <p:nvPr/>
        </p:nvSpPr>
        <p:spPr>
          <a:xfrm>
            <a:off x="2221992" y="1954211"/>
            <a:ext cx="1371600" cy="329184"/>
          </a:xfrm>
          <a:prstGeom prst="rect">
            <a:avLst/>
          </a:prstGeom>
          <a:noFill/>
          <a:ln/>
        </p:spPr>
        <p:txBody>
          <a:bodyPr wrap="square" rtlCol="0" anchor="ctr"/>
          <a:lstStyle/>
          <a:p>
            <a:pPr marL="0" indent="0">
              <a:buNone/>
            </a:pPr>
            <a:r>
              <a:rPr lang="en-US" sz="1000" dirty="0">
                <a:solidFill>
                  <a:srgbClr val="1A1A2E"/>
                </a:solidFill>
              </a:rPr>
              <a:t>χ² = 27,56</a:t>
            </a:r>
            <a:endParaRPr lang="en-US" sz="1000" dirty="0"/>
          </a:p>
        </p:txBody>
      </p:sp>
      <p:sp>
        <p:nvSpPr>
          <p:cNvPr id="9" name="Text 7"/>
          <p:cNvSpPr txBox="1"/>
          <p:nvPr/>
        </p:nvSpPr>
        <p:spPr>
          <a:xfrm>
            <a:off x="3249168" y="1954211"/>
            <a:ext cx="1645920" cy="329184"/>
          </a:xfrm>
          <a:prstGeom prst="rect">
            <a:avLst/>
          </a:prstGeom>
          <a:noFill/>
          <a:ln/>
        </p:spPr>
        <p:txBody>
          <a:bodyPr wrap="square" rtlCol="0" anchor="ctr"/>
          <a:lstStyle/>
          <a:p>
            <a:pPr marL="0" indent="0">
              <a:buNone/>
            </a:pPr>
            <a:r>
              <a:rPr lang="en-US" sz="1000" dirty="0">
                <a:solidFill>
                  <a:srgbClr val="1A1A2E"/>
                </a:solidFill>
              </a:rPr>
              <a:t>p = 0,120</a:t>
            </a:r>
            <a:endParaRPr lang="en-US" sz="1000" dirty="0"/>
          </a:p>
        </p:txBody>
      </p:sp>
      <p:sp>
        <p:nvSpPr>
          <p:cNvPr id="11" name="Shape 9"/>
          <p:cNvSpPr/>
          <p:nvPr/>
        </p:nvSpPr>
        <p:spPr>
          <a:xfrm>
            <a:off x="502920" y="2344787"/>
            <a:ext cx="8138160" cy="475488"/>
          </a:xfrm>
          <a:prstGeom prst="rect">
            <a:avLst/>
          </a:prstGeom>
          <a:solidFill>
            <a:srgbClr val="EBF5FB"/>
          </a:solidFill>
          <a:ln w="12700">
            <a:solidFill>
              <a:srgbClr val="EBF5FB"/>
            </a:solidFill>
            <a:prstDash val="solid"/>
          </a:ln>
        </p:spPr>
        <p:txBody>
          <a:bodyPr/>
          <a:lstStyle/>
          <a:p>
            <a:endParaRPr lang="es-ES" sz="1200"/>
          </a:p>
        </p:txBody>
      </p:sp>
      <p:sp>
        <p:nvSpPr>
          <p:cNvPr id="12" name="Shape 10"/>
          <p:cNvSpPr/>
          <p:nvPr/>
        </p:nvSpPr>
        <p:spPr>
          <a:xfrm>
            <a:off x="502920" y="2429699"/>
            <a:ext cx="64008" cy="580644"/>
          </a:xfrm>
          <a:prstGeom prst="rect">
            <a:avLst/>
          </a:prstGeom>
          <a:solidFill>
            <a:srgbClr val="1B4F72"/>
          </a:solidFill>
          <a:ln w="12700">
            <a:solidFill>
              <a:srgbClr val="1B4F72"/>
            </a:solidFill>
            <a:prstDash val="solid"/>
          </a:ln>
        </p:spPr>
        <p:txBody>
          <a:bodyPr/>
          <a:lstStyle/>
          <a:p>
            <a:endParaRPr lang="es-ES" sz="1200"/>
          </a:p>
        </p:txBody>
      </p:sp>
      <p:sp>
        <p:nvSpPr>
          <p:cNvPr id="13" name="Text 11"/>
          <p:cNvSpPr txBox="1"/>
          <p:nvPr/>
        </p:nvSpPr>
        <p:spPr>
          <a:xfrm>
            <a:off x="630936" y="2502851"/>
            <a:ext cx="1371600" cy="329184"/>
          </a:xfrm>
          <a:prstGeom prst="rect">
            <a:avLst/>
          </a:prstGeom>
          <a:noFill/>
          <a:ln/>
        </p:spPr>
        <p:txBody>
          <a:bodyPr wrap="square" rtlCol="0" anchor="ctr"/>
          <a:lstStyle/>
          <a:p>
            <a:pPr marL="0" indent="0">
              <a:buNone/>
            </a:pPr>
            <a:r>
              <a:rPr lang="en-US" sz="1000" b="1" dirty="0">
                <a:solidFill>
                  <a:srgbClr val="1A1A2E"/>
                </a:solidFill>
              </a:rPr>
              <a:t>DiaTrend (ENTIRE)</a:t>
            </a:r>
            <a:endParaRPr lang="en-US" sz="1000" dirty="0"/>
          </a:p>
        </p:txBody>
      </p:sp>
      <p:sp>
        <p:nvSpPr>
          <p:cNvPr id="14" name="Text 12"/>
          <p:cNvSpPr txBox="1"/>
          <p:nvPr/>
        </p:nvSpPr>
        <p:spPr>
          <a:xfrm>
            <a:off x="2221992" y="2502851"/>
            <a:ext cx="1371600" cy="329184"/>
          </a:xfrm>
          <a:prstGeom prst="rect">
            <a:avLst/>
          </a:prstGeom>
          <a:noFill/>
          <a:ln/>
        </p:spPr>
        <p:txBody>
          <a:bodyPr wrap="square" rtlCol="0" anchor="ctr"/>
          <a:lstStyle/>
          <a:p>
            <a:pPr marL="0" indent="0">
              <a:buNone/>
            </a:pPr>
            <a:r>
              <a:rPr lang="en-US" sz="1000" dirty="0">
                <a:solidFill>
                  <a:srgbClr val="1A1A2E"/>
                </a:solidFill>
              </a:rPr>
              <a:t>χ² = 85,71</a:t>
            </a:r>
            <a:endParaRPr lang="en-US" sz="1000" dirty="0"/>
          </a:p>
        </p:txBody>
      </p:sp>
      <p:sp>
        <p:nvSpPr>
          <p:cNvPr id="15" name="Text 13"/>
          <p:cNvSpPr txBox="1"/>
          <p:nvPr/>
        </p:nvSpPr>
        <p:spPr>
          <a:xfrm>
            <a:off x="3249168" y="2502851"/>
            <a:ext cx="1645920" cy="329184"/>
          </a:xfrm>
          <a:prstGeom prst="rect">
            <a:avLst/>
          </a:prstGeom>
          <a:noFill/>
          <a:ln/>
        </p:spPr>
        <p:txBody>
          <a:bodyPr wrap="square" rtlCol="0" anchor="ctr"/>
          <a:lstStyle/>
          <a:p>
            <a:pPr marL="0" indent="0">
              <a:buNone/>
            </a:pPr>
            <a:r>
              <a:rPr lang="en-US" sz="1000" b="1" dirty="0">
                <a:solidFill>
                  <a:srgbClr val="C0392B"/>
                </a:solidFill>
              </a:rPr>
              <a:t>p &lt; 0,0001 ★</a:t>
            </a:r>
            <a:endParaRPr lang="en-US" sz="1000" dirty="0"/>
          </a:p>
        </p:txBody>
      </p:sp>
      <p:sp>
        <p:nvSpPr>
          <p:cNvPr id="17" name="Shape 15"/>
          <p:cNvSpPr/>
          <p:nvPr/>
        </p:nvSpPr>
        <p:spPr>
          <a:xfrm>
            <a:off x="502920" y="2893427"/>
            <a:ext cx="8138160" cy="475488"/>
          </a:xfrm>
          <a:prstGeom prst="rect">
            <a:avLst/>
          </a:prstGeom>
          <a:solidFill>
            <a:srgbClr val="EBF5FB"/>
          </a:solidFill>
          <a:ln w="12700">
            <a:solidFill>
              <a:srgbClr val="EBF5FB"/>
            </a:solidFill>
            <a:prstDash val="solid"/>
          </a:ln>
        </p:spPr>
        <p:txBody>
          <a:bodyPr/>
          <a:lstStyle/>
          <a:p>
            <a:endParaRPr lang="es-ES" sz="1200"/>
          </a:p>
        </p:txBody>
      </p:sp>
      <p:sp>
        <p:nvSpPr>
          <p:cNvPr id="18" name="Shape 16"/>
          <p:cNvSpPr/>
          <p:nvPr/>
        </p:nvSpPr>
        <p:spPr>
          <a:xfrm>
            <a:off x="502920" y="2978339"/>
            <a:ext cx="64008" cy="475488"/>
          </a:xfrm>
          <a:prstGeom prst="rect">
            <a:avLst/>
          </a:prstGeom>
          <a:solidFill>
            <a:srgbClr val="1B4F72"/>
          </a:solidFill>
          <a:ln w="12700">
            <a:solidFill>
              <a:srgbClr val="1B4F72"/>
            </a:solidFill>
            <a:prstDash val="solid"/>
          </a:ln>
        </p:spPr>
        <p:txBody>
          <a:bodyPr/>
          <a:lstStyle/>
          <a:p>
            <a:endParaRPr lang="es-ES" sz="1200"/>
          </a:p>
        </p:txBody>
      </p:sp>
      <p:sp>
        <p:nvSpPr>
          <p:cNvPr id="19" name="Text 17"/>
          <p:cNvSpPr txBox="1"/>
          <p:nvPr/>
        </p:nvSpPr>
        <p:spPr>
          <a:xfrm>
            <a:off x="630936" y="3051491"/>
            <a:ext cx="1371600" cy="329184"/>
          </a:xfrm>
          <a:prstGeom prst="rect">
            <a:avLst/>
          </a:prstGeom>
          <a:noFill/>
          <a:ln/>
        </p:spPr>
        <p:txBody>
          <a:bodyPr wrap="square" rtlCol="0" anchor="ctr"/>
          <a:lstStyle/>
          <a:p>
            <a:pPr marL="0" indent="0">
              <a:buNone/>
            </a:pPr>
            <a:r>
              <a:rPr lang="en-US" sz="1000" b="1" dirty="0">
                <a:solidFill>
                  <a:srgbClr val="1A1A2E"/>
                </a:solidFill>
              </a:rPr>
              <a:t>DiaTrend (TBR-2)</a:t>
            </a:r>
            <a:endParaRPr lang="en-US" sz="1000" dirty="0"/>
          </a:p>
        </p:txBody>
      </p:sp>
      <p:sp>
        <p:nvSpPr>
          <p:cNvPr id="20" name="Text 18"/>
          <p:cNvSpPr txBox="1"/>
          <p:nvPr/>
        </p:nvSpPr>
        <p:spPr>
          <a:xfrm>
            <a:off x="2221992" y="3051491"/>
            <a:ext cx="1371600" cy="329184"/>
          </a:xfrm>
          <a:prstGeom prst="rect">
            <a:avLst/>
          </a:prstGeom>
          <a:noFill/>
          <a:ln/>
        </p:spPr>
        <p:txBody>
          <a:bodyPr wrap="square" rtlCol="0" anchor="ctr"/>
          <a:lstStyle/>
          <a:p>
            <a:pPr marL="0" indent="0">
              <a:buNone/>
            </a:pPr>
            <a:r>
              <a:rPr lang="en-US" sz="1000" dirty="0">
                <a:solidFill>
                  <a:srgbClr val="1A1A2E"/>
                </a:solidFill>
              </a:rPr>
              <a:t>χ² = 51,56</a:t>
            </a:r>
            <a:endParaRPr lang="en-US" sz="1000" dirty="0"/>
          </a:p>
        </p:txBody>
      </p:sp>
      <p:sp>
        <p:nvSpPr>
          <p:cNvPr id="21" name="Text 19"/>
          <p:cNvSpPr txBox="1"/>
          <p:nvPr/>
        </p:nvSpPr>
        <p:spPr>
          <a:xfrm>
            <a:off x="3249168" y="3051491"/>
            <a:ext cx="1645920" cy="329184"/>
          </a:xfrm>
          <a:prstGeom prst="rect">
            <a:avLst/>
          </a:prstGeom>
          <a:noFill/>
          <a:ln/>
        </p:spPr>
        <p:txBody>
          <a:bodyPr wrap="square" rtlCol="0" anchor="ctr"/>
          <a:lstStyle/>
          <a:p>
            <a:pPr marL="0" indent="0">
              <a:buNone/>
            </a:pPr>
            <a:r>
              <a:rPr lang="en-US" sz="1000" b="1" dirty="0">
                <a:solidFill>
                  <a:srgbClr val="C0392B"/>
                </a:solidFill>
              </a:rPr>
              <a:t>p = 0,0001 ★</a:t>
            </a:r>
            <a:endParaRPr lang="en-US" sz="1000" dirty="0"/>
          </a:p>
        </p:txBody>
      </p:sp>
      <p:sp>
        <p:nvSpPr>
          <p:cNvPr id="23" name="Shape 21"/>
          <p:cNvSpPr/>
          <p:nvPr/>
        </p:nvSpPr>
        <p:spPr>
          <a:xfrm>
            <a:off x="502920" y="3442067"/>
            <a:ext cx="8138160" cy="475488"/>
          </a:xfrm>
          <a:prstGeom prst="rect">
            <a:avLst/>
          </a:prstGeom>
          <a:solidFill>
            <a:srgbClr val="F2F4F8"/>
          </a:solidFill>
          <a:ln w="12700">
            <a:solidFill>
              <a:srgbClr val="F2F4F8"/>
            </a:solidFill>
            <a:prstDash val="solid"/>
          </a:ln>
        </p:spPr>
        <p:txBody>
          <a:bodyPr/>
          <a:lstStyle/>
          <a:p>
            <a:endParaRPr lang="es-ES" sz="1200"/>
          </a:p>
        </p:txBody>
      </p:sp>
      <p:sp>
        <p:nvSpPr>
          <p:cNvPr id="24" name="Text 22"/>
          <p:cNvSpPr txBox="1"/>
          <p:nvPr/>
        </p:nvSpPr>
        <p:spPr>
          <a:xfrm>
            <a:off x="630936" y="3600131"/>
            <a:ext cx="1295400" cy="329184"/>
          </a:xfrm>
          <a:prstGeom prst="rect">
            <a:avLst/>
          </a:prstGeom>
          <a:noFill/>
          <a:ln/>
        </p:spPr>
        <p:txBody>
          <a:bodyPr wrap="square" rtlCol="0" anchor="ctr"/>
          <a:lstStyle/>
          <a:p>
            <a:pPr marL="0" indent="0">
              <a:buNone/>
            </a:pPr>
            <a:r>
              <a:rPr lang="en-US" sz="1000" b="1" dirty="0">
                <a:solidFill>
                  <a:srgbClr val="1A1A2E"/>
                </a:solidFill>
              </a:rPr>
              <a:t>REPLACE-BG</a:t>
            </a:r>
            <a:endParaRPr lang="en-US" sz="1000" dirty="0"/>
          </a:p>
        </p:txBody>
      </p:sp>
      <p:sp>
        <p:nvSpPr>
          <p:cNvPr id="25" name="Text 23"/>
          <p:cNvSpPr txBox="1"/>
          <p:nvPr/>
        </p:nvSpPr>
        <p:spPr>
          <a:xfrm>
            <a:off x="2221992" y="3600131"/>
            <a:ext cx="1371600" cy="329184"/>
          </a:xfrm>
          <a:prstGeom prst="rect">
            <a:avLst/>
          </a:prstGeom>
          <a:noFill/>
          <a:ln/>
        </p:spPr>
        <p:txBody>
          <a:bodyPr wrap="square" rtlCol="0" anchor="ctr"/>
          <a:lstStyle/>
          <a:p>
            <a:pPr marL="0" indent="0">
              <a:buNone/>
            </a:pPr>
            <a:r>
              <a:rPr lang="en-US" sz="1000" dirty="0">
                <a:solidFill>
                  <a:srgbClr val="1A1A2E"/>
                </a:solidFill>
              </a:rPr>
              <a:t>χ² = 26,82</a:t>
            </a:r>
            <a:endParaRPr lang="en-US" sz="1000" dirty="0"/>
          </a:p>
        </p:txBody>
      </p:sp>
      <p:sp>
        <p:nvSpPr>
          <p:cNvPr id="26" name="Text 24"/>
          <p:cNvSpPr txBox="1"/>
          <p:nvPr/>
        </p:nvSpPr>
        <p:spPr>
          <a:xfrm>
            <a:off x="3249168" y="3600131"/>
            <a:ext cx="1645920" cy="329184"/>
          </a:xfrm>
          <a:prstGeom prst="rect">
            <a:avLst/>
          </a:prstGeom>
          <a:noFill/>
          <a:ln/>
        </p:spPr>
        <p:txBody>
          <a:bodyPr wrap="square" rtlCol="0" anchor="ctr"/>
          <a:lstStyle/>
          <a:p>
            <a:pPr marL="0" indent="0">
              <a:buNone/>
            </a:pPr>
            <a:r>
              <a:rPr lang="en-US" sz="1000" dirty="0">
                <a:solidFill>
                  <a:srgbClr val="1A1A2E"/>
                </a:solidFill>
              </a:rPr>
              <a:t>p = 0,140</a:t>
            </a:r>
            <a:endParaRPr lang="en-US" sz="1000" dirty="0"/>
          </a:p>
        </p:txBody>
      </p:sp>
      <p:sp>
        <p:nvSpPr>
          <p:cNvPr id="29" name="Shape 27"/>
          <p:cNvSpPr/>
          <p:nvPr/>
        </p:nvSpPr>
        <p:spPr>
          <a:xfrm>
            <a:off x="502920" y="4329035"/>
            <a:ext cx="7525512" cy="187452"/>
          </a:xfrm>
          <a:prstGeom prst="rect">
            <a:avLst/>
          </a:prstGeom>
          <a:solidFill>
            <a:srgbClr val="F2F4F8"/>
          </a:solidFill>
          <a:ln w="12700">
            <a:solidFill>
              <a:srgbClr val="F2F4F8"/>
            </a:solidFill>
            <a:prstDash val="solid"/>
          </a:ln>
        </p:spPr>
        <p:txBody>
          <a:bodyPr/>
          <a:lstStyle/>
          <a:p>
            <a:endParaRPr lang="es-ES" sz="1200"/>
          </a:p>
        </p:txBody>
      </p:sp>
      <p:sp>
        <p:nvSpPr>
          <p:cNvPr id="41" name="Shape 39"/>
          <p:cNvSpPr/>
          <p:nvPr/>
        </p:nvSpPr>
        <p:spPr>
          <a:xfrm>
            <a:off x="502920" y="4882896"/>
            <a:ext cx="7525512" cy="187452"/>
          </a:xfrm>
          <a:prstGeom prst="rect">
            <a:avLst/>
          </a:prstGeom>
          <a:solidFill>
            <a:srgbClr val="F2F4F8"/>
          </a:solidFill>
          <a:ln w="12700">
            <a:solidFill>
              <a:srgbClr val="F2F4F8"/>
            </a:solidFill>
            <a:prstDash val="solid"/>
          </a:ln>
        </p:spPr>
        <p:txBody>
          <a:bodyPr/>
          <a:lstStyle/>
          <a:p>
            <a:endParaRPr lang="es-ES" sz="1200"/>
          </a:p>
        </p:txBody>
      </p:sp>
      <p:pic>
        <p:nvPicPr>
          <p:cNvPr id="48" name="Imagen 47">
            <a:extLst>
              <a:ext uri="{FF2B5EF4-FFF2-40B4-BE49-F238E27FC236}">
                <a16:creationId xmlns:a16="http://schemas.microsoft.com/office/drawing/2014/main" id="{746410DE-56FF-A316-FD09-131DBEB1250B}"/>
              </a:ext>
            </a:extLst>
          </p:cNvPr>
          <p:cNvPicPr>
            <a:picLocks noChangeAspect="1"/>
          </p:cNvPicPr>
          <p:nvPr/>
        </p:nvPicPr>
        <p:blipFill>
          <a:blip r:embed="rId3"/>
          <a:stretch>
            <a:fillRect/>
          </a:stretch>
        </p:blipFill>
        <p:spPr>
          <a:xfrm>
            <a:off x="5613231" y="685911"/>
            <a:ext cx="3004989" cy="3884963"/>
          </a:xfrm>
          <a:prstGeom prst="rect">
            <a:avLst/>
          </a:prstGeom>
        </p:spPr>
      </p:pic>
      <p:pic>
        <p:nvPicPr>
          <p:cNvPr id="50" name="Imagen 49">
            <a:extLst>
              <a:ext uri="{FF2B5EF4-FFF2-40B4-BE49-F238E27FC236}">
                <a16:creationId xmlns:a16="http://schemas.microsoft.com/office/drawing/2014/main" id="{AB2580E3-8758-DB1D-9AD0-47BBAAA501A7}"/>
              </a:ext>
            </a:extLst>
          </p:cNvPr>
          <p:cNvPicPr>
            <a:picLocks noChangeAspect="1"/>
          </p:cNvPicPr>
          <p:nvPr/>
        </p:nvPicPr>
        <p:blipFill>
          <a:blip r:embed="rId4"/>
          <a:stretch>
            <a:fillRect/>
          </a:stretch>
        </p:blipFill>
        <p:spPr>
          <a:xfrm>
            <a:off x="6385041" y="4704408"/>
            <a:ext cx="1461367" cy="178488"/>
          </a:xfrm>
          <a:prstGeom prst="rect">
            <a:avLst/>
          </a:prstGeom>
        </p:spPr>
      </p:pic>
      <p:sp>
        <p:nvSpPr>
          <p:cNvPr id="10" name="Rectángulo 9">
            <a:extLst>
              <a:ext uri="{FF2B5EF4-FFF2-40B4-BE49-F238E27FC236}">
                <a16:creationId xmlns:a16="http://schemas.microsoft.com/office/drawing/2014/main" id="{25604D15-71E5-00D6-EDEF-8ADEA75D08CF}"/>
              </a:ext>
            </a:extLst>
          </p:cNvPr>
          <p:cNvSpPr/>
          <p:nvPr/>
        </p:nvSpPr>
        <p:spPr>
          <a:xfrm>
            <a:off x="502920" y="1954211"/>
            <a:ext cx="3781697" cy="2048256"/>
          </a:xfrm>
          <a:prstGeom prst="rect">
            <a:avLst/>
          </a:prstGeom>
          <a:no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2" name="Conector recto 21">
            <a:extLst>
              <a:ext uri="{FF2B5EF4-FFF2-40B4-BE49-F238E27FC236}">
                <a16:creationId xmlns:a16="http://schemas.microsoft.com/office/drawing/2014/main" id="{3DF3EE46-20DE-0104-49D0-62EA95AE9D7C}"/>
              </a:ext>
            </a:extLst>
          </p:cNvPr>
          <p:cNvCxnSpPr/>
          <p:nvPr/>
        </p:nvCxnSpPr>
        <p:spPr>
          <a:xfrm>
            <a:off x="502920" y="2429699"/>
            <a:ext cx="3781697"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306AF0C8-5CF9-CD48-00F2-71D8070FD07F}"/>
              </a:ext>
            </a:extLst>
          </p:cNvPr>
          <p:cNvCxnSpPr/>
          <p:nvPr/>
        </p:nvCxnSpPr>
        <p:spPr>
          <a:xfrm>
            <a:off x="502920" y="2946226"/>
            <a:ext cx="3781697"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D3845CDF-ACBB-1B2A-1839-80A9F0908215}"/>
              </a:ext>
            </a:extLst>
          </p:cNvPr>
          <p:cNvCxnSpPr/>
          <p:nvPr/>
        </p:nvCxnSpPr>
        <p:spPr>
          <a:xfrm>
            <a:off x="502920" y="3456548"/>
            <a:ext cx="3781697"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201168"/>
            <a:ext cx="8138160" cy="566928"/>
          </a:xfrm>
          <a:prstGeom prst="rect">
            <a:avLst/>
          </a:prstGeom>
          <a:noFill/>
          <a:ln/>
        </p:spPr>
        <p:txBody>
          <a:bodyPr wrap="square" rtlCol="0" anchor="ctr"/>
          <a:lstStyle/>
          <a:p>
            <a:pPr marL="0" indent="0">
              <a:buNone/>
            </a:pPr>
            <a:r>
              <a:rPr lang="en-US" sz="2800" b="1" dirty="0">
                <a:solidFill>
                  <a:srgbClr val="1A1A2E"/>
                </a:solidFill>
              </a:rPr>
              <a:t>Una paradoja con valor teórico: más datos no siempre implican más efecto</a:t>
            </a:r>
            <a:endParaRPr lang="en-US" sz="2800" dirty="0"/>
          </a:p>
        </p:txBody>
      </p:sp>
      <p:sp>
        <p:nvSpPr>
          <p:cNvPr id="4" name="Text 2"/>
          <p:cNvSpPr txBox="1"/>
          <p:nvPr/>
        </p:nvSpPr>
        <p:spPr>
          <a:xfrm>
            <a:off x="8229600" y="4869180"/>
            <a:ext cx="777240" cy="201168"/>
          </a:xfrm>
          <a:prstGeom prst="rect">
            <a:avLst/>
          </a:prstGeom>
          <a:noFill/>
          <a:ln/>
        </p:spPr>
        <p:txBody>
          <a:bodyPr wrap="square" rtlCol="0" anchor="ctr"/>
          <a:lstStyle/>
          <a:p>
            <a:pPr marL="0" indent="0" algn="r">
              <a:buNone/>
            </a:pPr>
            <a:r>
              <a:rPr lang="en-US" sz="1200" dirty="0">
                <a:solidFill>
                  <a:srgbClr val="7F8C8D"/>
                </a:solidFill>
              </a:rPr>
              <a:t>10 / 12</a:t>
            </a:r>
            <a:endParaRPr lang="en-US" sz="1200" dirty="0"/>
          </a:p>
        </p:txBody>
      </p:sp>
      <p:sp>
        <p:nvSpPr>
          <p:cNvPr id="5" name="Shape 3"/>
          <p:cNvSpPr/>
          <p:nvPr/>
        </p:nvSpPr>
        <p:spPr>
          <a:xfrm>
            <a:off x="502920" y="1170432"/>
            <a:ext cx="8138160" cy="685800"/>
          </a:xfrm>
          <a:prstGeom prst="rect">
            <a:avLst/>
          </a:prstGeom>
          <a:solidFill>
            <a:srgbClr val="FEF9E7"/>
          </a:solidFill>
          <a:ln w="12700">
            <a:solidFill>
              <a:srgbClr val="FEF9E7"/>
            </a:solidFill>
            <a:prstDash val="solid"/>
          </a:ln>
        </p:spPr>
        <p:txBody>
          <a:bodyPr/>
          <a:lstStyle/>
          <a:p>
            <a:endParaRPr lang="es-ES"/>
          </a:p>
        </p:txBody>
      </p:sp>
      <p:sp>
        <p:nvSpPr>
          <p:cNvPr id="6" name="Shape 4"/>
          <p:cNvSpPr/>
          <p:nvPr/>
        </p:nvSpPr>
        <p:spPr>
          <a:xfrm>
            <a:off x="502920" y="1170432"/>
            <a:ext cx="64008" cy="685800"/>
          </a:xfrm>
          <a:prstGeom prst="rect">
            <a:avLst/>
          </a:prstGeom>
          <a:solidFill>
            <a:srgbClr val="E67E22"/>
          </a:solidFill>
          <a:ln w="12700">
            <a:solidFill>
              <a:srgbClr val="E67E22"/>
            </a:solidFill>
            <a:prstDash val="solid"/>
          </a:ln>
        </p:spPr>
        <p:txBody>
          <a:bodyPr/>
          <a:lstStyle/>
          <a:p>
            <a:endParaRPr lang="es-ES"/>
          </a:p>
        </p:txBody>
      </p:sp>
      <p:sp>
        <p:nvSpPr>
          <p:cNvPr id="7" name="Text 5"/>
          <p:cNvSpPr txBox="1"/>
          <p:nvPr/>
        </p:nvSpPr>
        <p:spPr>
          <a:xfrm>
            <a:off x="640080" y="1188720"/>
            <a:ext cx="3657600" cy="256032"/>
          </a:xfrm>
          <a:prstGeom prst="rect">
            <a:avLst/>
          </a:prstGeom>
          <a:noFill/>
          <a:ln/>
        </p:spPr>
        <p:txBody>
          <a:bodyPr wrap="square" rtlCol="0" anchor="ctr"/>
          <a:lstStyle/>
          <a:p>
            <a:pPr marL="0" indent="0">
              <a:buNone/>
            </a:pPr>
            <a:r>
              <a:rPr lang="en-US" sz="1400" b="1" dirty="0">
                <a:solidFill>
                  <a:srgbClr val="E67E22"/>
                </a:solidFill>
              </a:rPr>
              <a:t>La paradoja observada</a:t>
            </a:r>
            <a:endParaRPr lang="en-US" sz="1400" dirty="0"/>
          </a:p>
        </p:txBody>
      </p:sp>
      <p:sp>
        <p:nvSpPr>
          <p:cNvPr id="8" name="Text 6"/>
          <p:cNvSpPr txBox="1"/>
          <p:nvPr/>
        </p:nvSpPr>
        <p:spPr>
          <a:xfrm>
            <a:off x="640080" y="1463040"/>
            <a:ext cx="7909560" cy="347472"/>
          </a:xfrm>
          <a:prstGeom prst="rect">
            <a:avLst/>
          </a:prstGeom>
          <a:noFill/>
          <a:ln/>
        </p:spPr>
        <p:txBody>
          <a:bodyPr wrap="square" rtlCol="0" anchor="ctr"/>
          <a:lstStyle/>
          <a:p>
            <a:pPr marL="0" indent="0">
              <a:buNone/>
            </a:pPr>
            <a:r>
              <a:rPr lang="en-US" sz="1100" dirty="0">
                <a:solidFill>
                  <a:srgbClr val="1A1A2E"/>
                </a:solidFill>
              </a:rPr>
              <a:t>El dataset más pequeño (DiaTrend, 51 pac.) produce los rankings de técnicas más consistentes entre folds (Spearman &gt; 0,78). El dataset más grande (T1DiabetesGranada, 643 pac.) produce los rankings menos reproducibles (Spearman ≈ 0,01–0,36).</a:t>
            </a:r>
            <a:endParaRPr lang="en-US" sz="1100" dirty="0"/>
          </a:p>
        </p:txBody>
      </p:sp>
      <p:sp>
        <p:nvSpPr>
          <p:cNvPr id="9" name="Shape 7"/>
          <p:cNvSpPr/>
          <p:nvPr/>
        </p:nvSpPr>
        <p:spPr>
          <a:xfrm>
            <a:off x="502920" y="2282952"/>
            <a:ext cx="4069080" cy="1380744"/>
          </a:xfrm>
          <a:prstGeom prst="rect">
            <a:avLst/>
          </a:prstGeom>
          <a:solidFill>
            <a:srgbClr val="F2F4F8"/>
          </a:solidFill>
          <a:ln w="12700">
            <a:solidFill>
              <a:srgbClr val="F2F4F8"/>
            </a:solidFill>
            <a:prstDash val="solid"/>
          </a:ln>
        </p:spPr>
        <p:txBody>
          <a:bodyPr/>
          <a:lstStyle/>
          <a:p>
            <a:endParaRPr lang="es-ES"/>
          </a:p>
        </p:txBody>
      </p:sp>
      <p:sp>
        <p:nvSpPr>
          <p:cNvPr id="10" name="Shape 8"/>
          <p:cNvSpPr/>
          <p:nvPr/>
        </p:nvSpPr>
        <p:spPr>
          <a:xfrm>
            <a:off x="502920" y="2282952"/>
            <a:ext cx="4069080" cy="64008"/>
          </a:xfrm>
          <a:prstGeom prst="rect">
            <a:avLst/>
          </a:prstGeom>
          <a:solidFill>
            <a:srgbClr val="1B4F72"/>
          </a:solidFill>
          <a:ln w="12700">
            <a:solidFill>
              <a:srgbClr val="1B4F72"/>
            </a:solidFill>
            <a:prstDash val="solid"/>
          </a:ln>
        </p:spPr>
        <p:txBody>
          <a:bodyPr/>
          <a:lstStyle/>
          <a:p>
            <a:endParaRPr lang="es-ES"/>
          </a:p>
        </p:txBody>
      </p:sp>
      <p:sp>
        <p:nvSpPr>
          <p:cNvPr id="11" name="Text 9"/>
          <p:cNvSpPr txBox="1"/>
          <p:nvPr/>
        </p:nvSpPr>
        <p:spPr>
          <a:xfrm>
            <a:off x="594360" y="2401824"/>
            <a:ext cx="3886200" cy="347472"/>
          </a:xfrm>
          <a:prstGeom prst="rect">
            <a:avLst/>
          </a:prstGeom>
          <a:noFill/>
          <a:ln/>
        </p:spPr>
        <p:txBody>
          <a:bodyPr wrap="square" rtlCol="0" anchor="ctr"/>
          <a:lstStyle/>
          <a:p>
            <a:pPr marL="0" indent="0">
              <a:buNone/>
            </a:pPr>
            <a:r>
              <a:rPr lang="en-US" sz="1400" b="1" dirty="0">
                <a:solidFill>
                  <a:srgbClr val="1A1A2E"/>
                </a:solidFill>
              </a:rPr>
              <a:t>¿Por qué DiaTrend es consistente?</a:t>
            </a:r>
            <a:endParaRPr lang="en-US" sz="1400" dirty="0"/>
          </a:p>
        </p:txBody>
      </p:sp>
      <p:sp>
        <p:nvSpPr>
          <p:cNvPr id="12" name="Text 10"/>
          <p:cNvSpPr txBox="1"/>
          <p:nvPr/>
        </p:nvSpPr>
        <p:spPr>
          <a:xfrm>
            <a:off x="594360" y="2759964"/>
            <a:ext cx="3886200" cy="844296"/>
          </a:xfrm>
          <a:prstGeom prst="rect">
            <a:avLst/>
          </a:prstGeom>
          <a:noFill/>
          <a:ln/>
        </p:spPr>
        <p:txBody>
          <a:bodyPr wrap="square" rtlCol="0" anchor="ctr"/>
          <a:lstStyle/>
          <a:p>
            <a:pPr marL="0" indent="0">
              <a:buNone/>
            </a:pPr>
            <a:r>
              <a:rPr lang="en-US" sz="1100" dirty="0">
                <a:solidFill>
                  <a:srgbClr val="1A1A2E"/>
                </a:solidFill>
              </a:rPr>
              <a:t>El desequilibrio extremo (38:1 por edad) actúa como señal dominante de varianza. El sesgo gobierna el comportamiento del optimizador de forma idéntica en todos los folds, independientemente de qué pacientes concretos los componen.</a:t>
            </a:r>
            <a:endParaRPr lang="en-US" sz="1100" dirty="0"/>
          </a:p>
        </p:txBody>
      </p:sp>
      <p:sp>
        <p:nvSpPr>
          <p:cNvPr id="13" name="Shape 11"/>
          <p:cNvSpPr/>
          <p:nvPr/>
        </p:nvSpPr>
        <p:spPr>
          <a:xfrm>
            <a:off x="4800600" y="2282952"/>
            <a:ext cx="4069080" cy="1380744"/>
          </a:xfrm>
          <a:prstGeom prst="rect">
            <a:avLst/>
          </a:prstGeom>
          <a:solidFill>
            <a:srgbClr val="F2F4F8"/>
          </a:solidFill>
          <a:ln w="12700">
            <a:solidFill>
              <a:srgbClr val="F2F4F8"/>
            </a:solidFill>
            <a:prstDash val="solid"/>
          </a:ln>
        </p:spPr>
        <p:txBody>
          <a:bodyPr/>
          <a:lstStyle/>
          <a:p>
            <a:endParaRPr lang="es-ES"/>
          </a:p>
        </p:txBody>
      </p:sp>
      <p:sp>
        <p:nvSpPr>
          <p:cNvPr id="14" name="Shape 12"/>
          <p:cNvSpPr/>
          <p:nvPr/>
        </p:nvSpPr>
        <p:spPr>
          <a:xfrm>
            <a:off x="4800600" y="2282952"/>
            <a:ext cx="4069080" cy="64008"/>
          </a:xfrm>
          <a:prstGeom prst="rect">
            <a:avLst/>
          </a:prstGeom>
          <a:solidFill>
            <a:srgbClr val="1E8449"/>
          </a:solidFill>
          <a:ln w="12700">
            <a:solidFill>
              <a:srgbClr val="1E8449"/>
            </a:solidFill>
            <a:prstDash val="solid"/>
          </a:ln>
        </p:spPr>
        <p:txBody>
          <a:bodyPr/>
          <a:lstStyle/>
          <a:p>
            <a:endParaRPr lang="es-ES"/>
          </a:p>
        </p:txBody>
      </p:sp>
      <p:sp>
        <p:nvSpPr>
          <p:cNvPr id="15" name="Text 13"/>
          <p:cNvSpPr txBox="1"/>
          <p:nvPr/>
        </p:nvSpPr>
        <p:spPr>
          <a:xfrm>
            <a:off x="4892040" y="2401824"/>
            <a:ext cx="3886200" cy="347472"/>
          </a:xfrm>
          <a:prstGeom prst="rect">
            <a:avLst/>
          </a:prstGeom>
          <a:noFill/>
          <a:ln/>
        </p:spPr>
        <p:txBody>
          <a:bodyPr wrap="square" rtlCol="0" anchor="ctr"/>
          <a:lstStyle/>
          <a:p>
            <a:pPr marL="0" indent="0">
              <a:buNone/>
            </a:pPr>
            <a:r>
              <a:rPr lang="en-US" sz="1400" b="1" dirty="0">
                <a:solidFill>
                  <a:srgbClr val="1A1A2E"/>
                </a:solidFill>
              </a:rPr>
              <a:t>¿Por qué T1DiabetesGranada es inconsistente?</a:t>
            </a:r>
            <a:endParaRPr lang="en-US" sz="1400" dirty="0"/>
          </a:p>
        </p:txBody>
      </p:sp>
      <p:sp>
        <p:nvSpPr>
          <p:cNvPr id="16" name="Text 14"/>
          <p:cNvSpPr txBox="1"/>
          <p:nvPr/>
        </p:nvSpPr>
        <p:spPr>
          <a:xfrm>
            <a:off x="4892040" y="2785872"/>
            <a:ext cx="3886200" cy="781812"/>
          </a:xfrm>
          <a:prstGeom prst="rect">
            <a:avLst/>
          </a:prstGeom>
          <a:noFill/>
          <a:ln/>
        </p:spPr>
        <p:txBody>
          <a:bodyPr wrap="square" rtlCol="0" anchor="ctr"/>
          <a:lstStyle/>
          <a:p>
            <a:pPr marL="0" indent="0">
              <a:buNone/>
            </a:pPr>
            <a:r>
              <a:rPr lang="en-US" sz="1100" dirty="0">
                <a:solidFill>
                  <a:srgbClr val="1A1A2E"/>
                </a:solidFill>
              </a:rPr>
              <a:t>La heterogeneidad fenotípica de 643 pacientes reales introduce una variabilidad inter-paciente que supera en todo momento la señal del desequilibrio demográfico. Cada fold asigna pacientes con perfiles glucémicos distintos.</a:t>
            </a:r>
            <a:endParaRPr lang="en-US" sz="1100" dirty="0"/>
          </a:p>
        </p:txBody>
      </p:sp>
      <p:sp>
        <p:nvSpPr>
          <p:cNvPr id="17" name="Shape 15"/>
          <p:cNvSpPr/>
          <p:nvPr/>
        </p:nvSpPr>
        <p:spPr>
          <a:xfrm>
            <a:off x="502920" y="3840480"/>
            <a:ext cx="8138160" cy="749808"/>
          </a:xfrm>
          <a:prstGeom prst="rect">
            <a:avLst/>
          </a:prstGeom>
          <a:solidFill>
            <a:srgbClr val="EBF5FB"/>
          </a:solidFill>
          <a:ln w="12700">
            <a:solidFill>
              <a:srgbClr val="EBF5FB"/>
            </a:solidFill>
            <a:prstDash val="solid"/>
          </a:ln>
        </p:spPr>
        <p:txBody>
          <a:bodyPr/>
          <a:lstStyle/>
          <a:p>
            <a:endParaRPr lang="es-ES"/>
          </a:p>
        </p:txBody>
      </p:sp>
      <p:sp>
        <p:nvSpPr>
          <p:cNvPr id="18" name="Shape 16"/>
          <p:cNvSpPr/>
          <p:nvPr/>
        </p:nvSpPr>
        <p:spPr>
          <a:xfrm>
            <a:off x="502920" y="3840480"/>
            <a:ext cx="64008" cy="749808"/>
          </a:xfrm>
          <a:prstGeom prst="rect">
            <a:avLst/>
          </a:prstGeom>
          <a:solidFill>
            <a:srgbClr val="1B4F72"/>
          </a:solidFill>
          <a:ln w="12700">
            <a:solidFill>
              <a:srgbClr val="1B4F72"/>
            </a:solidFill>
            <a:prstDash val="solid"/>
          </a:ln>
        </p:spPr>
        <p:txBody>
          <a:bodyPr/>
          <a:lstStyle/>
          <a:p>
            <a:endParaRPr lang="es-ES"/>
          </a:p>
        </p:txBody>
      </p:sp>
      <p:sp>
        <p:nvSpPr>
          <p:cNvPr id="19" name="Text 17"/>
          <p:cNvSpPr txBox="1"/>
          <p:nvPr/>
        </p:nvSpPr>
        <p:spPr>
          <a:xfrm>
            <a:off x="640080" y="3867912"/>
            <a:ext cx="2743200" cy="256032"/>
          </a:xfrm>
          <a:prstGeom prst="rect">
            <a:avLst/>
          </a:prstGeom>
          <a:noFill/>
          <a:ln/>
        </p:spPr>
        <p:txBody>
          <a:bodyPr wrap="square" rtlCol="0" anchor="ctr"/>
          <a:lstStyle/>
          <a:p>
            <a:pPr marL="0" indent="0">
              <a:buNone/>
            </a:pPr>
            <a:r>
              <a:rPr lang="en-US" sz="1400" b="1" dirty="0">
                <a:solidFill>
                  <a:srgbClr val="1B4F72"/>
                </a:solidFill>
              </a:rPr>
              <a:t>Corolario práctico</a:t>
            </a:r>
            <a:endParaRPr lang="en-US" sz="1400" dirty="0"/>
          </a:p>
        </p:txBody>
      </p:sp>
      <p:sp>
        <p:nvSpPr>
          <p:cNvPr id="20" name="Text 18"/>
          <p:cNvSpPr txBox="1"/>
          <p:nvPr/>
        </p:nvSpPr>
        <p:spPr>
          <a:xfrm>
            <a:off x="640080" y="4160520"/>
            <a:ext cx="7909560" cy="384048"/>
          </a:xfrm>
          <a:prstGeom prst="rect">
            <a:avLst/>
          </a:prstGeom>
          <a:noFill/>
          <a:ln/>
        </p:spPr>
        <p:txBody>
          <a:bodyPr wrap="square" rtlCol="0" anchor="ctr"/>
          <a:lstStyle/>
          <a:p>
            <a:pPr marL="0" indent="0">
              <a:buNone/>
            </a:pPr>
            <a:r>
              <a:rPr lang="en-US" sz="1000" dirty="0">
                <a:solidFill>
                  <a:srgbClr val="1A1A2E"/>
                </a:solidFill>
              </a:rPr>
              <a:t>La consistencia inter-fold (Spearman) no mide la calidad del pipeline, sino el régimen de varianza que domina el dataset. Un sesgo demográfico extremo produce rankings más estables que una cohorte rica, porque el sesgo es la señal dominante. En cohortes clínicas heterogéneas, la inconsistencia del ranking es el resultado esperado de una partición honesta.</a:t>
            </a:r>
            <a:endParaRPr lang="en-US" sz="1000" dirty="0"/>
          </a:p>
        </p:txBody>
      </p:sp>
      <p:sp>
        <p:nvSpPr>
          <p:cNvPr id="22" name="Shape 1">
            <a:extLst>
              <a:ext uri="{FF2B5EF4-FFF2-40B4-BE49-F238E27FC236}">
                <a16:creationId xmlns:a16="http://schemas.microsoft.com/office/drawing/2014/main" id="{B3671E70-8FB2-9088-E68C-1C8C3E614954}"/>
              </a:ext>
            </a:extLst>
          </p:cNvPr>
          <p:cNvSpPr/>
          <p:nvPr/>
        </p:nvSpPr>
        <p:spPr>
          <a:xfrm>
            <a:off x="502920" y="5070348"/>
            <a:ext cx="8138160" cy="27432"/>
          </a:xfrm>
          <a:prstGeom prst="rect">
            <a:avLst/>
          </a:prstGeom>
          <a:solidFill>
            <a:srgbClr val="BDC3C7"/>
          </a:solidFill>
          <a:ln w="12700">
            <a:solidFill>
              <a:srgbClr val="BDC3C7"/>
            </a:solidFill>
            <a:prstDash val="solid"/>
          </a:ln>
        </p:spPr>
        <p:txBody>
          <a:bodyPr/>
          <a:lstStyle/>
          <a:p>
            <a:endParaRPr lang="es-E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201168"/>
            <a:ext cx="8138160" cy="566928"/>
          </a:xfrm>
          <a:prstGeom prst="rect">
            <a:avLst/>
          </a:prstGeom>
          <a:noFill/>
          <a:ln/>
        </p:spPr>
        <p:txBody>
          <a:bodyPr wrap="square" rtlCol="0" anchor="ctr"/>
          <a:lstStyle/>
          <a:p>
            <a:pPr marL="0" indent="0">
              <a:buNone/>
            </a:pPr>
            <a:r>
              <a:rPr lang="en-US" sz="2800" b="1" dirty="0">
                <a:solidFill>
                  <a:srgbClr val="1A1A2E"/>
                </a:solidFill>
              </a:rPr>
              <a:t>Conclusiones respaldadas por los datos</a:t>
            </a:r>
            <a:endParaRPr lang="en-US" sz="2800" dirty="0"/>
          </a:p>
        </p:txBody>
      </p:sp>
      <p:sp>
        <p:nvSpPr>
          <p:cNvPr id="3" name="Shape 1"/>
          <p:cNvSpPr/>
          <p:nvPr/>
        </p:nvSpPr>
        <p:spPr>
          <a:xfrm>
            <a:off x="502920" y="5070348"/>
            <a:ext cx="8138160" cy="27432"/>
          </a:xfrm>
          <a:prstGeom prst="rect">
            <a:avLst/>
          </a:prstGeom>
          <a:solidFill>
            <a:srgbClr val="BDC3C7"/>
          </a:solidFill>
          <a:ln w="12700">
            <a:solidFill>
              <a:srgbClr val="BDC3C7"/>
            </a:solidFill>
            <a:prstDash val="solid"/>
          </a:ln>
        </p:spPr>
        <p:txBody>
          <a:bodyPr/>
          <a:lstStyle/>
          <a:p>
            <a:endParaRPr lang="es-ES"/>
          </a:p>
        </p:txBody>
      </p:sp>
      <p:sp>
        <p:nvSpPr>
          <p:cNvPr id="4" name="Text 2"/>
          <p:cNvSpPr txBox="1"/>
          <p:nvPr/>
        </p:nvSpPr>
        <p:spPr>
          <a:xfrm>
            <a:off x="8229600" y="4869180"/>
            <a:ext cx="777240" cy="201168"/>
          </a:xfrm>
          <a:prstGeom prst="rect">
            <a:avLst/>
          </a:prstGeom>
          <a:noFill/>
          <a:ln/>
        </p:spPr>
        <p:txBody>
          <a:bodyPr wrap="square" rtlCol="0" anchor="ctr"/>
          <a:lstStyle/>
          <a:p>
            <a:pPr marL="0" indent="0" algn="r">
              <a:buNone/>
            </a:pPr>
            <a:r>
              <a:rPr lang="en-US" sz="1200" dirty="0">
                <a:solidFill>
                  <a:srgbClr val="7F8C8D"/>
                </a:solidFill>
              </a:rPr>
              <a:t>11 / 12</a:t>
            </a:r>
            <a:endParaRPr lang="en-US" sz="1200" dirty="0"/>
          </a:p>
        </p:txBody>
      </p:sp>
      <p:sp>
        <p:nvSpPr>
          <p:cNvPr id="5" name="Shape 3"/>
          <p:cNvSpPr/>
          <p:nvPr/>
        </p:nvSpPr>
        <p:spPr>
          <a:xfrm>
            <a:off x="502920" y="1170432"/>
            <a:ext cx="8138160" cy="841248"/>
          </a:xfrm>
          <a:prstGeom prst="rect">
            <a:avLst/>
          </a:prstGeom>
          <a:solidFill>
            <a:srgbClr val="F2F4F8"/>
          </a:solidFill>
          <a:ln w="12700">
            <a:solidFill>
              <a:srgbClr val="F2F4F8"/>
            </a:solidFill>
            <a:prstDash val="solid"/>
          </a:ln>
        </p:spPr>
        <p:txBody>
          <a:bodyPr/>
          <a:lstStyle/>
          <a:p>
            <a:endParaRPr lang="es-ES"/>
          </a:p>
        </p:txBody>
      </p:sp>
      <p:sp>
        <p:nvSpPr>
          <p:cNvPr id="6" name="Shape 4"/>
          <p:cNvSpPr/>
          <p:nvPr/>
        </p:nvSpPr>
        <p:spPr>
          <a:xfrm>
            <a:off x="576072" y="1444752"/>
            <a:ext cx="274320" cy="274320"/>
          </a:xfrm>
          <a:prstGeom prst="line">
            <a:avLst/>
          </a:prstGeom>
          <a:solidFill>
            <a:srgbClr val="1B4F72"/>
          </a:solidFill>
          <a:ln w="12700">
            <a:solidFill>
              <a:srgbClr val="1B4F72"/>
            </a:solidFill>
            <a:prstDash val="solid"/>
          </a:ln>
        </p:spPr>
        <p:txBody>
          <a:bodyPr/>
          <a:lstStyle/>
          <a:p>
            <a:endParaRPr lang="es-ES"/>
          </a:p>
        </p:txBody>
      </p:sp>
      <p:sp>
        <p:nvSpPr>
          <p:cNvPr id="7" name="Text 5"/>
          <p:cNvSpPr txBox="1"/>
          <p:nvPr/>
        </p:nvSpPr>
        <p:spPr>
          <a:xfrm>
            <a:off x="585216" y="1472184"/>
            <a:ext cx="256032" cy="219456"/>
          </a:xfrm>
          <a:prstGeom prst="rect">
            <a:avLst/>
          </a:prstGeom>
          <a:noFill/>
          <a:ln/>
        </p:spPr>
        <p:txBody>
          <a:bodyPr wrap="square" rtlCol="0" anchor="ctr"/>
          <a:lstStyle/>
          <a:p>
            <a:pPr marL="0" indent="0" algn="ctr">
              <a:buNone/>
            </a:pPr>
            <a:r>
              <a:rPr lang="en-US" sz="1200" b="1" dirty="0">
                <a:solidFill>
                  <a:srgbClr val="FFFFFF"/>
                </a:solidFill>
              </a:rPr>
              <a:t>C1</a:t>
            </a:r>
            <a:endParaRPr lang="en-US" sz="1200" dirty="0"/>
          </a:p>
        </p:txBody>
      </p:sp>
      <p:sp>
        <p:nvSpPr>
          <p:cNvPr id="8" name="Text 6"/>
          <p:cNvSpPr txBox="1"/>
          <p:nvPr/>
        </p:nvSpPr>
        <p:spPr>
          <a:xfrm>
            <a:off x="932688" y="1216152"/>
            <a:ext cx="7680960" cy="274320"/>
          </a:xfrm>
          <a:prstGeom prst="rect">
            <a:avLst/>
          </a:prstGeom>
          <a:noFill/>
          <a:ln/>
        </p:spPr>
        <p:txBody>
          <a:bodyPr wrap="square" rtlCol="0" anchor="ctr"/>
          <a:lstStyle/>
          <a:p>
            <a:pPr marL="0" indent="0">
              <a:buNone/>
            </a:pPr>
            <a:r>
              <a:rPr lang="en-US" sz="1400" b="1" dirty="0">
                <a:solidFill>
                  <a:srgbClr val="1A1A2E"/>
                </a:solidFill>
              </a:rPr>
              <a:t>El balanceo NO mejora globalmente — y eso es información</a:t>
            </a:r>
            <a:endParaRPr lang="en-US" sz="1400" dirty="0"/>
          </a:p>
        </p:txBody>
      </p:sp>
      <p:sp>
        <p:nvSpPr>
          <p:cNvPr id="9" name="Text 7"/>
          <p:cNvSpPr txBox="1"/>
          <p:nvPr/>
        </p:nvSpPr>
        <p:spPr>
          <a:xfrm>
            <a:off x="932688" y="1508760"/>
            <a:ext cx="7680960" cy="438912"/>
          </a:xfrm>
          <a:prstGeom prst="rect">
            <a:avLst/>
          </a:prstGeom>
          <a:noFill/>
          <a:ln/>
        </p:spPr>
        <p:txBody>
          <a:bodyPr wrap="square" rtlCol="0" anchor="ctr"/>
          <a:lstStyle/>
          <a:p>
            <a:pPr marL="0" indent="0">
              <a:buNone/>
            </a:pPr>
            <a:r>
              <a:rPr lang="en-US" sz="1200" dirty="0">
                <a:solidFill>
                  <a:srgbClr val="1A1A2E"/>
                </a:solidFill>
              </a:rPr>
              <a:t>En T1DiabetesGranada y REPLACE-BG el Friedman no rechaza la equivalencia entre 21 condiciones (p=0,12 y p=0,14). La robustez representacional del LSTM es un resultado valioso para sistemas de páncreas artificial.</a:t>
            </a:r>
            <a:endParaRPr lang="en-US" sz="1200" dirty="0"/>
          </a:p>
        </p:txBody>
      </p:sp>
      <p:sp>
        <p:nvSpPr>
          <p:cNvPr id="10" name="Shape 8"/>
          <p:cNvSpPr/>
          <p:nvPr/>
        </p:nvSpPr>
        <p:spPr>
          <a:xfrm>
            <a:off x="502920" y="2103120"/>
            <a:ext cx="8138160" cy="841248"/>
          </a:xfrm>
          <a:prstGeom prst="rect">
            <a:avLst/>
          </a:prstGeom>
          <a:solidFill>
            <a:srgbClr val="F2F4F8"/>
          </a:solidFill>
          <a:ln w="12700">
            <a:solidFill>
              <a:srgbClr val="F2F4F8"/>
            </a:solidFill>
            <a:prstDash val="solid"/>
          </a:ln>
        </p:spPr>
        <p:txBody>
          <a:bodyPr/>
          <a:lstStyle/>
          <a:p>
            <a:endParaRPr lang="es-ES"/>
          </a:p>
        </p:txBody>
      </p:sp>
      <p:sp>
        <p:nvSpPr>
          <p:cNvPr id="11" name="Shape 9"/>
          <p:cNvSpPr/>
          <p:nvPr/>
        </p:nvSpPr>
        <p:spPr>
          <a:xfrm>
            <a:off x="576072" y="2377440"/>
            <a:ext cx="274320" cy="274320"/>
          </a:xfrm>
          <a:prstGeom prst="line">
            <a:avLst/>
          </a:prstGeom>
          <a:solidFill>
            <a:srgbClr val="C0392B"/>
          </a:solidFill>
          <a:ln w="12700">
            <a:solidFill>
              <a:srgbClr val="C0392B"/>
            </a:solidFill>
            <a:prstDash val="solid"/>
          </a:ln>
        </p:spPr>
        <p:txBody>
          <a:bodyPr/>
          <a:lstStyle/>
          <a:p>
            <a:endParaRPr lang="es-ES"/>
          </a:p>
        </p:txBody>
      </p:sp>
      <p:sp>
        <p:nvSpPr>
          <p:cNvPr id="12" name="Text 10"/>
          <p:cNvSpPr txBox="1"/>
          <p:nvPr/>
        </p:nvSpPr>
        <p:spPr>
          <a:xfrm>
            <a:off x="585216" y="2404872"/>
            <a:ext cx="256032" cy="219456"/>
          </a:xfrm>
          <a:prstGeom prst="rect">
            <a:avLst/>
          </a:prstGeom>
          <a:noFill/>
          <a:ln/>
        </p:spPr>
        <p:txBody>
          <a:bodyPr wrap="square" rtlCol="0" anchor="ctr"/>
          <a:lstStyle/>
          <a:p>
            <a:pPr marL="0" indent="0" algn="ctr">
              <a:buNone/>
            </a:pPr>
            <a:r>
              <a:rPr lang="en-US" sz="1200" b="1" dirty="0">
                <a:solidFill>
                  <a:srgbClr val="FFFFFF"/>
                </a:solidFill>
              </a:rPr>
              <a:t>C2</a:t>
            </a:r>
            <a:endParaRPr lang="en-US" sz="1200" dirty="0"/>
          </a:p>
        </p:txBody>
      </p:sp>
      <p:sp>
        <p:nvSpPr>
          <p:cNvPr id="13" name="Text 11"/>
          <p:cNvSpPr txBox="1"/>
          <p:nvPr/>
        </p:nvSpPr>
        <p:spPr>
          <a:xfrm>
            <a:off x="932688" y="2148840"/>
            <a:ext cx="7680960" cy="274320"/>
          </a:xfrm>
          <a:prstGeom prst="rect">
            <a:avLst/>
          </a:prstGeom>
          <a:noFill/>
          <a:ln/>
        </p:spPr>
        <p:txBody>
          <a:bodyPr wrap="square" rtlCol="0" anchor="ctr"/>
          <a:lstStyle/>
          <a:p>
            <a:pPr marL="0" indent="0">
              <a:buNone/>
            </a:pPr>
            <a:r>
              <a:rPr lang="en-US" sz="1400" b="1" dirty="0">
                <a:solidFill>
                  <a:srgbClr val="1A1A2E"/>
                </a:solidFill>
              </a:rPr>
              <a:t>Existe un trade-off estructural: ENTIRE vs. TBR-2</a:t>
            </a:r>
            <a:endParaRPr lang="en-US" sz="1400" dirty="0"/>
          </a:p>
        </p:txBody>
      </p:sp>
      <p:sp>
        <p:nvSpPr>
          <p:cNvPr id="14" name="Text 12"/>
          <p:cNvSpPr txBox="1"/>
          <p:nvPr/>
        </p:nvSpPr>
        <p:spPr>
          <a:xfrm>
            <a:off x="932688" y="2441448"/>
            <a:ext cx="7680960" cy="438912"/>
          </a:xfrm>
          <a:prstGeom prst="rect">
            <a:avLst/>
          </a:prstGeom>
          <a:noFill/>
          <a:ln/>
        </p:spPr>
        <p:txBody>
          <a:bodyPr wrap="square" rtlCol="0" anchor="ctr"/>
          <a:lstStyle/>
          <a:p>
            <a:pPr marL="0" indent="0">
              <a:buNone/>
            </a:pPr>
            <a:r>
              <a:rPr lang="en-US" sz="1200" dirty="0">
                <a:solidFill>
                  <a:srgbClr val="1A1A2E"/>
                </a:solidFill>
              </a:rPr>
              <a:t>En DiaTrend ninguna técnica mejora simultáneamente el RMSE global y en hipoglucemia severa — excepto Tomek Links. La elección de técnica debe hacerse según el rango glucémico clínicamente prioritario.</a:t>
            </a:r>
            <a:endParaRPr lang="en-US" sz="1200" dirty="0"/>
          </a:p>
        </p:txBody>
      </p:sp>
      <p:sp>
        <p:nvSpPr>
          <p:cNvPr id="15" name="Shape 13"/>
          <p:cNvSpPr/>
          <p:nvPr/>
        </p:nvSpPr>
        <p:spPr>
          <a:xfrm>
            <a:off x="502920" y="3035808"/>
            <a:ext cx="8138160" cy="841248"/>
          </a:xfrm>
          <a:prstGeom prst="rect">
            <a:avLst/>
          </a:prstGeom>
          <a:solidFill>
            <a:srgbClr val="F2F4F8"/>
          </a:solidFill>
          <a:ln w="12700">
            <a:solidFill>
              <a:srgbClr val="F2F4F8"/>
            </a:solidFill>
            <a:prstDash val="solid"/>
          </a:ln>
        </p:spPr>
        <p:txBody>
          <a:bodyPr/>
          <a:lstStyle/>
          <a:p>
            <a:endParaRPr lang="es-ES"/>
          </a:p>
        </p:txBody>
      </p:sp>
      <p:sp>
        <p:nvSpPr>
          <p:cNvPr id="16" name="Shape 14"/>
          <p:cNvSpPr/>
          <p:nvPr/>
        </p:nvSpPr>
        <p:spPr>
          <a:xfrm>
            <a:off x="576072" y="3310128"/>
            <a:ext cx="274320" cy="274320"/>
          </a:xfrm>
          <a:prstGeom prst="line">
            <a:avLst/>
          </a:prstGeom>
          <a:solidFill>
            <a:srgbClr val="E67E22"/>
          </a:solidFill>
          <a:ln w="12700">
            <a:solidFill>
              <a:srgbClr val="E67E22"/>
            </a:solidFill>
            <a:prstDash val="solid"/>
          </a:ln>
        </p:spPr>
        <p:txBody>
          <a:bodyPr/>
          <a:lstStyle/>
          <a:p>
            <a:endParaRPr lang="es-ES"/>
          </a:p>
        </p:txBody>
      </p:sp>
      <p:sp>
        <p:nvSpPr>
          <p:cNvPr id="17" name="Text 15"/>
          <p:cNvSpPr txBox="1"/>
          <p:nvPr/>
        </p:nvSpPr>
        <p:spPr>
          <a:xfrm>
            <a:off x="585216" y="3337560"/>
            <a:ext cx="256032" cy="219456"/>
          </a:xfrm>
          <a:prstGeom prst="rect">
            <a:avLst/>
          </a:prstGeom>
          <a:noFill/>
          <a:ln/>
        </p:spPr>
        <p:txBody>
          <a:bodyPr wrap="square" rtlCol="0" anchor="ctr"/>
          <a:lstStyle/>
          <a:p>
            <a:pPr marL="0" indent="0" algn="ctr">
              <a:buNone/>
            </a:pPr>
            <a:r>
              <a:rPr lang="en-US" sz="1200" b="1" dirty="0">
                <a:solidFill>
                  <a:srgbClr val="FFFFFF"/>
                </a:solidFill>
              </a:rPr>
              <a:t>C3</a:t>
            </a:r>
            <a:endParaRPr lang="en-US" sz="1200" dirty="0"/>
          </a:p>
        </p:txBody>
      </p:sp>
      <p:sp>
        <p:nvSpPr>
          <p:cNvPr id="18" name="Text 16"/>
          <p:cNvSpPr txBox="1"/>
          <p:nvPr/>
        </p:nvSpPr>
        <p:spPr>
          <a:xfrm>
            <a:off x="932688" y="3081528"/>
            <a:ext cx="7680960" cy="274320"/>
          </a:xfrm>
          <a:prstGeom prst="rect">
            <a:avLst/>
          </a:prstGeom>
          <a:noFill/>
          <a:ln/>
        </p:spPr>
        <p:txBody>
          <a:bodyPr wrap="square" rtlCol="0" anchor="ctr"/>
          <a:lstStyle/>
          <a:p>
            <a:pPr marL="0" indent="0">
              <a:buNone/>
            </a:pPr>
            <a:r>
              <a:rPr lang="en-US" sz="1400" b="1" dirty="0">
                <a:solidFill>
                  <a:srgbClr val="1A1A2E"/>
                </a:solidFill>
              </a:rPr>
              <a:t>El efecto es dataset-dependiente y explicable</a:t>
            </a:r>
            <a:endParaRPr lang="en-US" sz="1400" dirty="0"/>
          </a:p>
        </p:txBody>
      </p:sp>
      <p:sp>
        <p:nvSpPr>
          <p:cNvPr id="19" name="Text 17"/>
          <p:cNvSpPr txBox="1"/>
          <p:nvPr/>
        </p:nvSpPr>
        <p:spPr>
          <a:xfrm>
            <a:off x="932688" y="3374136"/>
            <a:ext cx="7680960" cy="438912"/>
          </a:xfrm>
          <a:prstGeom prst="rect">
            <a:avLst/>
          </a:prstGeom>
          <a:noFill/>
          <a:ln/>
        </p:spPr>
        <p:txBody>
          <a:bodyPr wrap="square" rtlCol="0" anchor="ctr"/>
          <a:lstStyle/>
          <a:p>
            <a:pPr marL="0" indent="0">
              <a:buNone/>
            </a:pPr>
            <a:r>
              <a:rPr lang="en-US" sz="1200" dirty="0">
                <a:solidFill>
                  <a:srgbClr val="1A1A2E"/>
                </a:solidFill>
              </a:rPr>
              <a:t>T1DiabetesGranada: gran volumen absorbe el sesgo. REPLACE-BG: estructura homogénea elimina el problema. DiaTrend: sesgo extremo (38:1) produce efectos reales. No existe recomendación universal.</a:t>
            </a:r>
            <a:endParaRPr lang="en-US" sz="1200" dirty="0"/>
          </a:p>
        </p:txBody>
      </p:sp>
      <p:sp>
        <p:nvSpPr>
          <p:cNvPr id="20" name="Shape 18"/>
          <p:cNvSpPr/>
          <p:nvPr/>
        </p:nvSpPr>
        <p:spPr>
          <a:xfrm>
            <a:off x="502920" y="3968496"/>
            <a:ext cx="8138160" cy="841248"/>
          </a:xfrm>
          <a:prstGeom prst="rect">
            <a:avLst/>
          </a:prstGeom>
          <a:solidFill>
            <a:srgbClr val="F2F4F8"/>
          </a:solidFill>
          <a:ln w="12700">
            <a:solidFill>
              <a:srgbClr val="F2F4F8"/>
            </a:solidFill>
            <a:prstDash val="solid"/>
          </a:ln>
        </p:spPr>
        <p:txBody>
          <a:bodyPr/>
          <a:lstStyle/>
          <a:p>
            <a:endParaRPr lang="es-ES"/>
          </a:p>
        </p:txBody>
      </p:sp>
      <p:sp>
        <p:nvSpPr>
          <p:cNvPr id="21" name="Shape 19"/>
          <p:cNvSpPr/>
          <p:nvPr/>
        </p:nvSpPr>
        <p:spPr>
          <a:xfrm>
            <a:off x="576072" y="4242816"/>
            <a:ext cx="274320" cy="274320"/>
          </a:xfrm>
          <a:prstGeom prst="line">
            <a:avLst/>
          </a:prstGeom>
          <a:solidFill>
            <a:srgbClr val="1E8449"/>
          </a:solidFill>
          <a:ln w="12700">
            <a:solidFill>
              <a:srgbClr val="1E8449"/>
            </a:solidFill>
            <a:prstDash val="solid"/>
          </a:ln>
        </p:spPr>
        <p:txBody>
          <a:bodyPr/>
          <a:lstStyle/>
          <a:p>
            <a:endParaRPr lang="es-ES"/>
          </a:p>
        </p:txBody>
      </p:sp>
      <p:sp>
        <p:nvSpPr>
          <p:cNvPr id="22" name="Text 20"/>
          <p:cNvSpPr txBox="1"/>
          <p:nvPr/>
        </p:nvSpPr>
        <p:spPr>
          <a:xfrm>
            <a:off x="585216" y="4270248"/>
            <a:ext cx="256032" cy="219456"/>
          </a:xfrm>
          <a:prstGeom prst="rect">
            <a:avLst/>
          </a:prstGeom>
          <a:noFill/>
          <a:ln/>
        </p:spPr>
        <p:txBody>
          <a:bodyPr wrap="square" rtlCol="0" anchor="ctr"/>
          <a:lstStyle/>
          <a:p>
            <a:pPr marL="0" indent="0" algn="ctr">
              <a:buNone/>
            </a:pPr>
            <a:r>
              <a:rPr lang="en-US" sz="1200" b="1" dirty="0">
                <a:solidFill>
                  <a:srgbClr val="FFFFFF"/>
                </a:solidFill>
              </a:rPr>
              <a:t>C4</a:t>
            </a:r>
            <a:endParaRPr lang="en-US" sz="1200" dirty="0"/>
          </a:p>
        </p:txBody>
      </p:sp>
      <p:sp>
        <p:nvSpPr>
          <p:cNvPr id="23" name="Text 21"/>
          <p:cNvSpPr txBox="1"/>
          <p:nvPr/>
        </p:nvSpPr>
        <p:spPr>
          <a:xfrm>
            <a:off x="932688" y="4014216"/>
            <a:ext cx="7680960" cy="274320"/>
          </a:xfrm>
          <a:prstGeom prst="rect">
            <a:avLst/>
          </a:prstGeom>
          <a:noFill/>
          <a:ln/>
        </p:spPr>
        <p:txBody>
          <a:bodyPr wrap="square" rtlCol="0" anchor="ctr"/>
          <a:lstStyle/>
          <a:p>
            <a:pPr marL="0" indent="0">
              <a:buNone/>
            </a:pPr>
            <a:r>
              <a:rPr lang="en-US" sz="1400" b="1" dirty="0">
                <a:solidFill>
                  <a:srgbClr val="1A1A2E"/>
                </a:solidFill>
              </a:rPr>
              <a:t>Tomek Links: mejor relación beneficio/coste</a:t>
            </a:r>
            <a:endParaRPr lang="en-US" sz="1400" dirty="0"/>
          </a:p>
        </p:txBody>
      </p:sp>
      <p:sp>
        <p:nvSpPr>
          <p:cNvPr id="24" name="Text 22"/>
          <p:cNvSpPr txBox="1"/>
          <p:nvPr/>
        </p:nvSpPr>
        <p:spPr>
          <a:xfrm>
            <a:off x="932688" y="4306824"/>
            <a:ext cx="7680960" cy="438912"/>
          </a:xfrm>
          <a:prstGeom prst="rect">
            <a:avLst/>
          </a:prstGeom>
          <a:noFill/>
          <a:ln/>
        </p:spPr>
        <p:txBody>
          <a:bodyPr wrap="square" rtlCol="0" anchor="ctr"/>
          <a:lstStyle/>
          <a:p>
            <a:pPr marL="0" indent="0">
              <a:buNone/>
            </a:pPr>
            <a:r>
              <a:rPr lang="en-US" sz="1200" dirty="0">
                <a:solidFill>
                  <a:srgbClr val="1A1A2E"/>
                </a:solidFill>
              </a:rPr>
              <a:t>Posición 1 en DiaTrend (RMSE=44,83, CD diagram Nemenyi) sin deteriorar TBR-2. Mecanismo: elimina solo puntos fronterizos ambiguos → reducción de ruido sin pérdida de información.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1A2E"/>
          </a:solidFill>
          <a:ln w="12700">
            <a:solidFill>
              <a:srgbClr val="1A1A2E"/>
            </a:solidFill>
            <a:prstDash val="solid"/>
          </a:ln>
        </p:spPr>
        <p:txBody>
          <a:bodyPr/>
          <a:lstStyle/>
          <a:p>
            <a:endParaRPr lang="es-ES"/>
          </a:p>
        </p:txBody>
      </p:sp>
      <p:sp>
        <p:nvSpPr>
          <p:cNvPr id="3" name="Text 1"/>
          <p:cNvSpPr txBox="1"/>
          <p:nvPr/>
        </p:nvSpPr>
        <p:spPr>
          <a:xfrm>
            <a:off x="502920" y="320040"/>
            <a:ext cx="8138160" cy="868680"/>
          </a:xfrm>
          <a:prstGeom prst="rect">
            <a:avLst/>
          </a:prstGeom>
          <a:noFill/>
          <a:ln/>
        </p:spPr>
        <p:txBody>
          <a:bodyPr wrap="square" rtlCol="0" anchor="ctr"/>
          <a:lstStyle/>
          <a:p>
            <a:pPr marL="0" indent="0">
              <a:buNone/>
            </a:pPr>
            <a:r>
              <a:rPr lang="en-US" sz="2200" b="1" dirty="0">
                <a:solidFill>
                  <a:srgbClr val="FFFFFF"/>
                </a:solidFill>
              </a:rPr>
              <a:t>El balanceo demográfico no es una solución universal —</a:t>
            </a:r>
            <a:endParaRPr lang="en-US" sz="2200" dirty="0"/>
          </a:p>
          <a:p>
            <a:pPr marL="0" indent="0">
              <a:buNone/>
            </a:pPr>
            <a:r>
              <a:rPr lang="en-US" sz="2200" b="1" dirty="0">
                <a:solidFill>
                  <a:srgbClr val="FFFFFF"/>
                </a:solidFill>
              </a:rPr>
              <a:t>es una herramienta cuya eficacia depende del contexto.</a:t>
            </a:r>
            <a:endParaRPr lang="en-US" sz="2200" dirty="0"/>
          </a:p>
        </p:txBody>
      </p:sp>
      <p:sp>
        <p:nvSpPr>
          <p:cNvPr id="4" name="Text 2"/>
          <p:cNvSpPr txBox="1"/>
          <p:nvPr/>
        </p:nvSpPr>
        <p:spPr>
          <a:xfrm>
            <a:off x="502920" y="1325880"/>
            <a:ext cx="3200400" cy="256032"/>
          </a:xfrm>
          <a:prstGeom prst="rect">
            <a:avLst/>
          </a:prstGeom>
          <a:noFill/>
          <a:ln/>
        </p:spPr>
        <p:txBody>
          <a:bodyPr wrap="square" rtlCol="0" anchor="ctr"/>
          <a:lstStyle/>
          <a:p>
            <a:pPr marL="0" indent="0">
              <a:buNone/>
            </a:pPr>
            <a:r>
              <a:rPr lang="en-US" sz="1400" b="1" dirty="0">
                <a:solidFill>
                  <a:srgbClr val="BDC3C7"/>
                </a:solidFill>
              </a:rPr>
              <a:t>Líneas de trabajo futuro</a:t>
            </a:r>
            <a:endParaRPr lang="en-US" sz="1400" dirty="0"/>
          </a:p>
        </p:txBody>
      </p:sp>
      <p:sp>
        <p:nvSpPr>
          <p:cNvPr id="5" name="Text 3"/>
          <p:cNvSpPr txBox="1"/>
          <p:nvPr/>
        </p:nvSpPr>
        <p:spPr>
          <a:xfrm>
            <a:off x="502920" y="1645920"/>
            <a:ext cx="8138160" cy="329184"/>
          </a:xfrm>
          <a:prstGeom prst="rect">
            <a:avLst/>
          </a:prstGeom>
          <a:noFill/>
          <a:ln/>
        </p:spPr>
        <p:txBody>
          <a:bodyPr wrap="square" rtlCol="0" anchor="ctr"/>
          <a:lstStyle/>
          <a:p>
            <a:pPr marL="0" indent="0">
              <a:buNone/>
            </a:pPr>
            <a:r>
              <a:rPr lang="en-US" sz="1400" dirty="0">
                <a:solidFill>
                  <a:srgbClr val="BDC3C7"/>
                </a:solidFill>
              </a:rPr>
              <a:t>→  Repetición con múltiples semillas → mayor potencia estadística del Friedman</a:t>
            </a:r>
            <a:endParaRPr lang="en-US" sz="1400" dirty="0"/>
          </a:p>
        </p:txBody>
      </p:sp>
      <p:sp>
        <p:nvSpPr>
          <p:cNvPr id="6" name="Text 4"/>
          <p:cNvSpPr txBox="1"/>
          <p:nvPr/>
        </p:nvSpPr>
        <p:spPr>
          <a:xfrm>
            <a:off x="502920" y="2039112"/>
            <a:ext cx="8138160" cy="329184"/>
          </a:xfrm>
          <a:prstGeom prst="rect">
            <a:avLst/>
          </a:prstGeom>
          <a:noFill/>
          <a:ln/>
        </p:spPr>
        <p:txBody>
          <a:bodyPr wrap="square" rtlCol="0" anchor="ctr"/>
          <a:lstStyle/>
          <a:p>
            <a:pPr marL="0" indent="0">
              <a:buNone/>
            </a:pPr>
            <a:r>
              <a:rPr lang="en-US" sz="1400" dirty="0">
                <a:solidFill>
                  <a:srgbClr val="BDC3C7"/>
                </a:solidFill>
              </a:rPr>
              <a:t>→  Extensión a modelos Transformer y horizontes PH=2/8</a:t>
            </a:r>
            <a:endParaRPr lang="en-US" sz="1400" dirty="0"/>
          </a:p>
        </p:txBody>
      </p:sp>
      <p:sp>
        <p:nvSpPr>
          <p:cNvPr id="7" name="Text 5"/>
          <p:cNvSpPr txBox="1"/>
          <p:nvPr/>
        </p:nvSpPr>
        <p:spPr>
          <a:xfrm>
            <a:off x="502920" y="2432304"/>
            <a:ext cx="8138160" cy="329184"/>
          </a:xfrm>
          <a:prstGeom prst="rect">
            <a:avLst/>
          </a:prstGeom>
          <a:noFill/>
          <a:ln/>
        </p:spPr>
        <p:txBody>
          <a:bodyPr wrap="square" rtlCol="0" anchor="ctr"/>
          <a:lstStyle/>
          <a:p>
            <a:pPr marL="0" indent="0">
              <a:buNone/>
            </a:pPr>
            <a:r>
              <a:rPr lang="en-US" sz="1400" dirty="0">
                <a:solidFill>
                  <a:srgbClr val="BDC3C7"/>
                </a:solidFill>
              </a:rPr>
              <a:t>→  Balanceo conjunto edad×sexo (desequilibrio interseccional)</a:t>
            </a:r>
            <a:endParaRPr lang="en-US" sz="1400" dirty="0"/>
          </a:p>
        </p:txBody>
      </p:sp>
      <p:sp>
        <p:nvSpPr>
          <p:cNvPr id="8" name="Text 6"/>
          <p:cNvSpPr txBox="1"/>
          <p:nvPr/>
        </p:nvSpPr>
        <p:spPr>
          <a:xfrm>
            <a:off x="502920" y="2825496"/>
            <a:ext cx="8138160" cy="329184"/>
          </a:xfrm>
          <a:prstGeom prst="rect">
            <a:avLst/>
          </a:prstGeom>
          <a:noFill/>
          <a:ln/>
        </p:spPr>
        <p:txBody>
          <a:bodyPr wrap="square" rtlCol="0" anchor="ctr"/>
          <a:lstStyle/>
          <a:p>
            <a:pPr marL="0" indent="0">
              <a:buNone/>
            </a:pPr>
            <a:r>
              <a:rPr lang="en-US" sz="1400" dirty="0">
                <a:solidFill>
                  <a:srgbClr val="BDC3C7"/>
                </a:solidFill>
              </a:rPr>
              <a:t>→  Modelos de fundación preentrenados (TimesFM, Moirai) vs. balanceo</a:t>
            </a:r>
            <a:endParaRPr lang="en-US" sz="1400" dirty="0"/>
          </a:p>
        </p:txBody>
      </p:sp>
      <p:sp>
        <p:nvSpPr>
          <p:cNvPr id="9" name="Text 7"/>
          <p:cNvSpPr txBox="1"/>
          <p:nvPr/>
        </p:nvSpPr>
        <p:spPr>
          <a:xfrm>
            <a:off x="502920" y="3218688"/>
            <a:ext cx="8138160" cy="329184"/>
          </a:xfrm>
          <a:prstGeom prst="rect">
            <a:avLst/>
          </a:prstGeom>
          <a:noFill/>
          <a:ln/>
        </p:spPr>
        <p:txBody>
          <a:bodyPr wrap="square" rtlCol="0" anchor="ctr"/>
          <a:lstStyle/>
          <a:p>
            <a:pPr marL="0" indent="0">
              <a:buNone/>
            </a:pPr>
            <a:r>
              <a:rPr lang="en-US" sz="1400" dirty="0">
                <a:solidFill>
                  <a:srgbClr val="BDC3C7"/>
                </a:solidFill>
              </a:rPr>
              <a:t>→  Aprendizaje federado con balanceo demográfico distribuido</a:t>
            </a:r>
            <a:endParaRPr lang="en-US" sz="1400" dirty="0"/>
          </a:p>
        </p:txBody>
      </p:sp>
      <p:sp>
        <p:nvSpPr>
          <p:cNvPr id="10" name="Shape 8"/>
          <p:cNvSpPr/>
          <p:nvPr/>
        </p:nvSpPr>
        <p:spPr>
          <a:xfrm>
            <a:off x="502920" y="3703320"/>
            <a:ext cx="8138160" cy="1005840"/>
          </a:xfrm>
          <a:prstGeom prst="rect">
            <a:avLst/>
          </a:prstGeom>
          <a:solidFill>
            <a:srgbClr val="1F2B3A"/>
          </a:solidFill>
          <a:ln w="12700">
            <a:solidFill>
              <a:srgbClr val="1F2B3A"/>
            </a:solidFill>
            <a:prstDash val="solid"/>
          </a:ln>
        </p:spPr>
        <p:txBody>
          <a:bodyPr/>
          <a:lstStyle/>
          <a:p>
            <a:endParaRPr lang="es-ES"/>
          </a:p>
        </p:txBody>
      </p:sp>
      <p:sp>
        <p:nvSpPr>
          <p:cNvPr id="11" name="Text 9"/>
          <p:cNvSpPr txBox="1"/>
          <p:nvPr/>
        </p:nvSpPr>
        <p:spPr>
          <a:xfrm>
            <a:off x="640080" y="3749040"/>
            <a:ext cx="3657600" cy="256032"/>
          </a:xfrm>
          <a:prstGeom prst="rect">
            <a:avLst/>
          </a:prstGeom>
          <a:noFill/>
          <a:ln/>
        </p:spPr>
        <p:txBody>
          <a:bodyPr wrap="square" rtlCol="0" anchor="ctr"/>
          <a:lstStyle/>
          <a:p>
            <a:pPr marL="0" indent="0">
              <a:buNone/>
            </a:pPr>
            <a:r>
              <a:rPr lang="en-US" sz="1400" b="1" dirty="0">
                <a:solidFill>
                  <a:srgbClr val="BDC3C7"/>
                </a:solidFill>
              </a:rPr>
              <a:t>Contribución del trabajo</a:t>
            </a:r>
            <a:endParaRPr lang="en-US" sz="1400" dirty="0"/>
          </a:p>
        </p:txBody>
      </p:sp>
      <p:sp>
        <p:nvSpPr>
          <p:cNvPr id="12" name="Text 10"/>
          <p:cNvSpPr txBox="1"/>
          <p:nvPr/>
        </p:nvSpPr>
        <p:spPr>
          <a:xfrm>
            <a:off x="640080" y="4023360"/>
            <a:ext cx="7909560" cy="640080"/>
          </a:xfrm>
          <a:prstGeom prst="rect">
            <a:avLst/>
          </a:prstGeom>
          <a:noFill/>
          <a:ln/>
        </p:spPr>
        <p:txBody>
          <a:bodyPr wrap="square" rtlCol="0" anchor="ctr"/>
          <a:lstStyle/>
          <a:p>
            <a:pPr marL="0" indent="0">
              <a:buNone/>
            </a:pPr>
            <a:r>
              <a:rPr lang="en-US" sz="1400" dirty="0">
                <a:solidFill>
                  <a:srgbClr val="FFFFFF"/>
                </a:solidFill>
              </a:rPr>
              <a:t>Primera evaluación sistemática de 10 técnicas de balanceo demográfico sobre señales CGM, con protocolo estadístico formal (Friedman + Nemenyi + Borda + Cohen's d) y evaluación desagregada por rango glucémico en tres datasets reales de distinta escala y estructura.</a:t>
            </a:r>
            <a:endParaRPr lang="en-US" sz="1400" dirty="0"/>
          </a:p>
        </p:txBody>
      </p:sp>
      <p:sp>
        <p:nvSpPr>
          <p:cNvPr id="13" name="Text 11"/>
          <p:cNvSpPr txBox="1"/>
          <p:nvPr/>
        </p:nvSpPr>
        <p:spPr>
          <a:xfrm>
            <a:off x="8229600" y="4869180"/>
            <a:ext cx="777240" cy="201168"/>
          </a:xfrm>
          <a:prstGeom prst="rect">
            <a:avLst/>
          </a:prstGeom>
          <a:noFill/>
          <a:ln/>
        </p:spPr>
        <p:txBody>
          <a:bodyPr wrap="square" rtlCol="0" anchor="ctr"/>
          <a:lstStyle/>
          <a:p>
            <a:pPr marL="0" indent="0" algn="r">
              <a:buNone/>
            </a:pPr>
            <a:r>
              <a:rPr lang="en-US" sz="1200" dirty="0">
                <a:solidFill>
                  <a:srgbClr val="7F8C8D"/>
                </a:solidFill>
              </a:rPr>
              <a:t>12 / 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TotalTime>
  <Words>2962</Words>
  <Application>Microsoft Office PowerPoint</Application>
  <PresentationFormat>Presentación en pantalla (16:9)</PresentationFormat>
  <Paragraphs>217</Paragraphs>
  <Slides>12</Slides>
  <Notes>12</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12</vt:i4>
      </vt:variant>
    </vt:vector>
  </HeadingPairs>
  <TitlesOfParts>
    <vt:vector size="14"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RICARDO HERNANDEZ SANCHEZ-AGESTA</cp:lastModifiedBy>
  <cp:revision>3</cp:revision>
  <dcterms:created xsi:type="dcterms:W3CDTF">2026-09-03T19:24:01Z</dcterms:created>
  <dcterms:modified xsi:type="dcterms:W3CDTF">2026-09-08T14:37:39Z</dcterms:modified>
</cp:coreProperties>
</file>